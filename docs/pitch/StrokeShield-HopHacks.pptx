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one-line idea. StrokeShield: a two-minute stroke check on a webcam that talks you through it and decides whether to call for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Nearly two million neurons die every minute a stroke goes untreated (Saver, 2006). Add your own story here if you have one; a real personal moment lands harder than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one sentence. The point is not that strokes are rare or mysterious; it is that the person living it is alone and unsure, and hesitates.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The windows are counted from the last time the person was known to be well, not from when they noticed. And the classic FAST screen misses strokes that a better screen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 question. Emphasize: alone, only a webcam, and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product in three ideas. The important design decision: the voice only guides. The app decides, and the agent is never allowed to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allow camera, mic and location on the first screen, then the four checks, then the result. The result shown is a simulated high-risk run; alerts can only ever go to the one demo phone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analysis runs in the browser, so video never leaves the device. Only the short speech clip goes to our server. The server is also where the safety rule lives: it can only ever text the one demo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the agent does and, just as important, what it is not allowed to do. It has tools to start each check and to start the emergency countdown, but the website decides everything and the agent never states a score or a diagnosis. Note: speech-to-text (Scribe) is not built yet; only the voice agent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this is planned, not built. The design rule we already wrote down: it can never block a check, and if it fails or is unsure it just says unclear and gets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Intentional choices. Red appears only for emergencies, so it never competes with anything else. One accent blue. No gradients. Every text and background pair passes accessibility contrast, and nothing is smaller than 13 px.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the limits; judges trust that. Then name the three next steps that would make it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9"/>
        </a:solidFill>
      </p:bgPr>
    </p:bg>
    <p:spTree>
      <p:nvGrpSpPr>
        <p:cNvPr id="1" name=""/>
        <p:cNvGrpSpPr/>
        <p:nvPr/>
      </p:nvGrpSpPr>
      <p:grpSpPr>
        <a:xfrm>
          <a:off x="0" y="0"/>
          <a:ext cx="0" cy="0"/>
          <a:chOff x="0" y="0"/>
          <a:chExt cx="0" cy="0"/>
        </a:xfrm>
      </p:grpSpPr>
      <p:sp>
        <p:nvSpPr>
          <p:cNvPr id="3" name="Shape 0"/>
          <p:cNvSpPr/>
          <p:nvPr/>
        </p:nvSpPr>
        <p:spPr>
          <a:xfrm>
            <a:off x="8503920" y="0"/>
            <a:ext cx="3687775" cy="6858000"/>
          </a:xfrm>
          <a:prstGeom prst="rect">
            <a:avLst/>
          </a:prstGeom>
          <a:solidFill>
            <a:srgbClr val="0B5CAB"/>
          </a:solidFill>
          <a:ln w="12700">
            <a:solidFill>
              <a:srgbClr val="0B5CAB"/>
            </a:solidFill>
            <a:prstDash val="solid"/>
          </a:ln>
        </p:spPr>
      </p:sp>
      <p:pic>
        <p:nvPicPr>
          <p:cNvPr id="4" name="Image 0" descr="mark-white.png">    </p:cNvPr>
          <p:cNvPicPr>
            <a:picLocks noChangeAspect="1"/>
          </p:cNvPicPr>
          <p:nvPr/>
        </p:nvPicPr>
        <p:blipFill>
          <a:blip r:embed="rId1"/>
          <a:stretch>
            <a:fillRect/>
          </a:stretch>
        </p:blipFill>
        <p:spPr>
          <a:xfrm>
            <a:off x="9189720" y="2240280"/>
            <a:ext cx="2377440" cy="2377440"/>
          </a:xfrm>
          <a:prstGeom prst="rect">
            <a:avLst/>
          </a:prstGeom>
        </p:spPr>
      </p:pic>
      <p:sp>
        <p:nvSpPr>
          <p:cNvPr id="5" name="Text 1"/>
          <p:cNvSpPr/>
          <p:nvPr/>
        </p:nvSpPr>
        <p:spPr>
          <a:xfrm>
            <a:off x="822960" y="1874520"/>
            <a:ext cx="7498080" cy="1371600"/>
          </a:xfrm>
          <a:prstGeom prst="rect">
            <a:avLst/>
          </a:prstGeom>
          <a:noFill/>
          <a:ln/>
        </p:spPr>
        <p:txBody>
          <a:bodyPr wrap="square" lIns="0" tIns="0" rIns="0" bIns="0" rtlCol="0" anchor="t"/>
          <a:lstStyle/>
          <a:p>
            <a:pPr indent="0" marL="0">
              <a:buNone/>
            </a:pPr>
            <a:r>
              <a:rPr lang="en-US" sz="8400" dirty="0">
                <a:solidFill>
                  <a:srgbClr val="12161B"/>
                </a:solidFill>
                <a:latin typeface="Newsreader" pitchFamily="34" charset="0"/>
                <a:ea typeface="Newsreader" pitchFamily="34" charset="-122"/>
                <a:cs typeface="Newsreader" pitchFamily="34" charset="-120"/>
              </a:rPr>
              <a:t>StrokeShield</a:t>
            </a:r>
            <a:endParaRPr lang="en-US" sz="8400" dirty="0"/>
          </a:p>
        </p:txBody>
      </p:sp>
      <p:sp>
        <p:nvSpPr>
          <p:cNvPr id="6" name="Text 2"/>
          <p:cNvSpPr/>
          <p:nvPr/>
        </p:nvSpPr>
        <p:spPr>
          <a:xfrm>
            <a:off x="822960" y="3383280"/>
            <a:ext cx="7132320" cy="914400"/>
          </a:xfrm>
          <a:prstGeom prst="rect">
            <a:avLst/>
          </a:prstGeom>
          <a:noFill/>
          <a:ln/>
        </p:spPr>
        <p:txBody>
          <a:bodyPr wrap="square" lIns="0" tIns="0" rIns="0" bIns="0" rtlCol="0" anchor="t"/>
          <a:lstStyle/>
          <a:p>
            <a:pPr indent="0" marL="0">
              <a:buNone/>
            </a:pPr>
            <a:r>
              <a:rPr lang="en-US" sz="2600" dirty="0">
                <a:solidFill>
                  <a:srgbClr val="4A5561"/>
                </a:solidFill>
                <a:latin typeface="Avenir Next" pitchFamily="34" charset="0"/>
                <a:ea typeface="Avenir Next" pitchFamily="34" charset="-122"/>
                <a:cs typeface="Avenir Next" pitchFamily="34" charset="-120"/>
              </a:rPr>
              <a:t>A two-minute stroke check that talks you through it.</a:t>
            </a:r>
            <a:endParaRPr lang="en-US" sz="2600" dirty="0"/>
          </a:p>
        </p:txBody>
      </p:sp>
      <p:sp>
        <p:nvSpPr>
          <p:cNvPr id="7" name="Shape 3"/>
          <p:cNvSpPr/>
          <p:nvPr/>
        </p:nvSpPr>
        <p:spPr>
          <a:xfrm>
            <a:off x="822960" y="5074920"/>
            <a:ext cx="1097280" cy="0"/>
          </a:xfrm>
          <a:prstGeom prst="line">
            <a:avLst/>
          </a:prstGeom>
          <a:noFill/>
          <a:ln w="28575">
            <a:solidFill>
              <a:srgbClr val="0B5CAB"/>
            </a:solidFill>
            <a:prstDash val="solid"/>
          </a:ln>
        </p:spPr>
      </p:sp>
      <p:sp>
        <p:nvSpPr>
          <p:cNvPr id="8" name="Text 4"/>
          <p:cNvSpPr/>
          <p:nvPr/>
        </p:nvSpPr>
        <p:spPr>
          <a:xfrm>
            <a:off x="822960" y="5257800"/>
            <a:ext cx="7315200" cy="365760"/>
          </a:xfrm>
          <a:prstGeom prst="rect">
            <a:avLst/>
          </a:prstGeom>
          <a:noFill/>
          <a:ln/>
        </p:spPr>
        <p:txBody>
          <a:bodyPr wrap="square" lIns="0" tIns="0" rIns="0" bIns="0" rtlCol="0" anchor="ctr"/>
          <a:lstStyle/>
          <a:p>
            <a:pPr indent="0" marL="0">
              <a:buNone/>
            </a:pPr>
            <a:r>
              <a:rPr lang="en-US" sz="1800" b="1" dirty="0">
                <a:solidFill>
                  <a:srgbClr val="12161B"/>
                </a:solidFill>
                <a:latin typeface="Avenir Next" pitchFamily="34" charset="0"/>
                <a:ea typeface="Avenir Next" pitchFamily="34" charset="-122"/>
                <a:cs typeface="Avenir Next" pitchFamily="34" charset="-120"/>
              </a:rPr>
              <a:t>Sathvik S.  ·  Fatih C.  ·  Yeongsu K.  ·  Leo Y.</a:t>
            </a:r>
            <a:endParaRPr lang="en-US" sz="1800" dirty="0"/>
          </a:p>
        </p:txBody>
      </p:sp>
      <p:sp>
        <p:nvSpPr>
          <p:cNvPr id="9" name="Text 5"/>
          <p:cNvSpPr/>
          <p:nvPr/>
        </p:nvSpPr>
        <p:spPr>
          <a:xfrm>
            <a:off x="822960" y="5669280"/>
            <a:ext cx="7315200" cy="365760"/>
          </a:xfrm>
          <a:prstGeom prst="rect">
            <a:avLst/>
          </a:prstGeom>
          <a:noFill/>
          <a:ln/>
        </p:spPr>
        <p:txBody>
          <a:bodyPr wrap="square" lIns="0" tIns="0" rIns="0" bIns="0" rtlCol="0" anchor="ctr"/>
          <a:lstStyle/>
          <a:p>
            <a:pPr indent="0" marL="0">
              <a:buNone/>
            </a:pPr>
            <a:r>
              <a:rPr lang="en-US" sz="1600" dirty="0">
                <a:solidFill>
                  <a:srgbClr val="6B7683"/>
                </a:solidFill>
                <a:latin typeface="Avenir Next" pitchFamily="34" charset="0"/>
                <a:ea typeface="Avenir Next" pitchFamily="34" charset="-122"/>
                <a:cs typeface="Avenir Next" pitchFamily="34" charset="-120"/>
              </a:rPr>
              <a:t>Johns Hopkins University  ·  HopHacks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2 / 12</a:t>
            </a:r>
            <a:endParaRPr lang="en-US" sz="1100" dirty="0"/>
          </a:p>
        </p:txBody>
      </p:sp>
      <p:sp>
        <p:nvSpPr>
          <p:cNvPr id="5" name="Text 2"/>
          <p:cNvSpPr/>
          <p:nvPr/>
        </p:nvSpPr>
        <p:spPr>
          <a:xfrm>
            <a:off x="822960" y="1737360"/>
            <a:ext cx="8229600" cy="1737360"/>
          </a:xfrm>
          <a:prstGeom prst="rect">
            <a:avLst/>
          </a:prstGeom>
          <a:noFill/>
          <a:ln/>
        </p:spPr>
        <p:txBody>
          <a:bodyPr wrap="square" lIns="0" tIns="0" rIns="0" bIns="0" rtlCol="0" anchor="t"/>
          <a:lstStyle/>
          <a:p>
            <a:pPr indent="0" marL="0">
              <a:buNone/>
            </a:pPr>
            <a:r>
              <a:rPr lang="en-US" sz="11000" dirty="0">
                <a:solidFill>
                  <a:srgbClr val="12161B"/>
                </a:solidFill>
                <a:latin typeface="Newsreader" pitchFamily="34" charset="0"/>
                <a:ea typeface="Newsreader" pitchFamily="34" charset="-122"/>
                <a:cs typeface="Newsreader" pitchFamily="34" charset="-120"/>
              </a:rPr>
              <a:t>1.9 million</a:t>
            </a:r>
            <a:endParaRPr lang="en-US" sz="11000" dirty="0"/>
          </a:p>
        </p:txBody>
      </p:sp>
      <p:sp>
        <p:nvSpPr>
          <p:cNvPr id="6" name="Text 3"/>
          <p:cNvSpPr/>
          <p:nvPr/>
        </p:nvSpPr>
        <p:spPr>
          <a:xfrm>
            <a:off x="822960" y="3611880"/>
            <a:ext cx="7680960" cy="1097280"/>
          </a:xfrm>
          <a:prstGeom prst="rect">
            <a:avLst/>
          </a:prstGeom>
          <a:noFill/>
          <a:ln/>
        </p:spPr>
        <p:txBody>
          <a:bodyPr wrap="square" lIns="0" tIns="0" rIns="0" bIns="0" rtlCol="0" anchor="t"/>
          <a:lstStyle/>
          <a:p>
            <a:pPr indent="0" marL="0">
              <a:buNone/>
            </a:pPr>
            <a:r>
              <a:rPr lang="en-US" sz="3000" dirty="0">
                <a:solidFill>
                  <a:srgbClr val="4A5561"/>
                </a:solidFill>
                <a:latin typeface="Avenir Next" pitchFamily="34" charset="0"/>
                <a:ea typeface="Avenir Next" pitchFamily="34" charset="-122"/>
                <a:cs typeface="Avenir Next" pitchFamily="34" charset="-120"/>
              </a:rPr>
              <a:t>neurons lost every minute a stroke goes untreated.</a:t>
            </a:r>
            <a:endParaRPr lang="en-US" sz="3000" dirty="0"/>
          </a:p>
        </p:txBody>
      </p:sp>
      <p:sp>
        <p:nvSpPr>
          <p:cNvPr id="7" name="Text 4"/>
          <p:cNvSpPr/>
          <p:nvPr/>
        </p:nvSpPr>
        <p:spPr>
          <a:xfrm>
            <a:off x="822960" y="4892040"/>
            <a:ext cx="5486400" cy="320040"/>
          </a:xfrm>
          <a:prstGeom prst="rect">
            <a:avLst/>
          </a:prstGeom>
          <a:noFill/>
          <a:ln/>
        </p:spPr>
        <p:txBody>
          <a:bodyPr wrap="square" lIns="0" tIns="0" rIns="0" bIns="0" rtlCol="0" anchor="ctr"/>
          <a:lstStyle/>
          <a:p>
            <a:pPr indent="0" marL="0">
              <a:buNone/>
            </a:pPr>
            <a:r>
              <a:rPr lang="en-US" sz="1400" dirty="0">
                <a:solidFill>
                  <a:srgbClr val="6B7683"/>
                </a:solidFill>
                <a:latin typeface="Avenir Next" pitchFamily="34" charset="0"/>
                <a:ea typeface="Avenir Next" pitchFamily="34" charset="-122"/>
                <a:cs typeface="Avenir Next" pitchFamily="34" charset="-120"/>
              </a:rPr>
              <a:t>Saver, Stroke (2006)</a:t>
            </a:r>
            <a:endParaRPr lang="en-US" sz="1400" dirty="0"/>
          </a:p>
        </p:txBody>
      </p:sp>
      <p:sp>
        <p:nvSpPr>
          <p:cNvPr id="8" name="Shape 5"/>
          <p:cNvSpPr/>
          <p:nvPr/>
        </p:nvSpPr>
        <p:spPr>
          <a:xfrm>
            <a:off x="8732520" y="1737360"/>
            <a:ext cx="0" cy="3566160"/>
          </a:xfrm>
          <a:prstGeom prst="line">
            <a:avLst/>
          </a:prstGeom>
          <a:noFill/>
          <a:ln w="12700">
            <a:solidFill>
              <a:srgbClr val="C9C9C0"/>
            </a:solidFill>
            <a:prstDash val="solid"/>
          </a:ln>
        </p:spPr>
      </p:sp>
      <p:sp>
        <p:nvSpPr>
          <p:cNvPr id="9" name="Text 6"/>
          <p:cNvSpPr/>
          <p:nvPr/>
        </p:nvSpPr>
        <p:spPr>
          <a:xfrm>
            <a:off x="9098280" y="2011680"/>
            <a:ext cx="2606040" cy="310896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The treatments that can reverse a stroke only work in the first hours.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3 / 12</a:t>
            </a:r>
            <a:endParaRPr lang="en-US" sz="1100" dirty="0"/>
          </a:p>
        </p:txBody>
      </p:sp>
      <p:sp>
        <p:nvSpPr>
          <p:cNvPr id="5" name="Text 2"/>
          <p:cNvSpPr/>
          <p:nvPr/>
        </p:nvSpPr>
        <p:spPr>
          <a:xfrm>
            <a:off x="1097280" y="1920240"/>
            <a:ext cx="9966960" cy="2011680"/>
          </a:xfrm>
          <a:prstGeom prst="rect">
            <a:avLst/>
          </a:prstGeom>
          <a:noFill/>
          <a:ln/>
        </p:spPr>
        <p:txBody>
          <a:bodyPr wrap="square" lIns="0" tIns="0" rIns="0" bIns="0" rtlCol="0" anchor="t"/>
          <a:lstStyle/>
          <a:p>
            <a:pPr indent="0" marL="0">
              <a:buNone/>
            </a:pPr>
            <a:r>
              <a:rPr lang="en-US" sz="5400" dirty="0">
                <a:solidFill>
                  <a:srgbClr val="12161B"/>
                </a:solidFill>
                <a:latin typeface="Newsreader" pitchFamily="34" charset="0"/>
                <a:ea typeface="Newsreader" pitchFamily="34" charset="-122"/>
                <a:cs typeface="Newsreader" pitchFamily="34" charset="-120"/>
              </a:rPr>
              <a:t>When a stroke starts, most people are </a:t>
            </a:r>
            <a:pPr indent="0" marL="0">
              <a:buNone/>
            </a:pPr>
            <a:r>
              <a:rPr lang="en-US" sz="5400" b="1" dirty="0">
                <a:solidFill>
                  <a:srgbClr val="0B5CAB"/>
                </a:solidFill>
                <a:latin typeface="Newsreader" pitchFamily="34" charset="0"/>
                <a:ea typeface="Newsreader" pitchFamily="34" charset="-122"/>
                <a:cs typeface="Newsreader" pitchFamily="34" charset="-120"/>
              </a:rPr>
              <a:t>unsure</a:t>
            </a:r>
            <a:pPr indent="0" marL="0">
              <a:buNone/>
            </a:pPr>
            <a:r>
              <a:rPr lang="en-US" sz="5400" dirty="0">
                <a:solidFill>
                  <a:srgbClr val="12161B"/>
                </a:solidFill>
                <a:latin typeface="Newsreader" pitchFamily="34" charset="0"/>
                <a:ea typeface="Newsreader" pitchFamily="34" charset="-122"/>
                <a:cs typeface="Newsreader" pitchFamily="34" charset="-120"/>
              </a:rPr>
              <a:t>, and they </a:t>
            </a:r>
            <a:pPr indent="0" marL="0">
              <a:buNone/>
            </a:pPr>
            <a:r>
              <a:rPr lang="en-US" sz="5400" b="1" dirty="0">
                <a:solidFill>
                  <a:srgbClr val="0B5CAB"/>
                </a:solidFill>
                <a:latin typeface="Newsreader" pitchFamily="34" charset="0"/>
                <a:ea typeface="Newsreader" pitchFamily="34" charset="-122"/>
                <a:cs typeface="Newsreader" pitchFamily="34" charset="-120"/>
              </a:rPr>
              <a:t>wait</a:t>
            </a:r>
            <a:pPr indent="0" marL="0">
              <a:buNone/>
            </a:pPr>
            <a:r>
              <a:rPr lang="en-US" sz="5400" dirty="0">
                <a:solidFill>
                  <a:srgbClr val="12161B"/>
                </a:solidFill>
                <a:latin typeface="Newsreader" pitchFamily="34" charset="0"/>
                <a:ea typeface="Newsreader" pitchFamily="34" charset="-122"/>
                <a:cs typeface="Newsreader" pitchFamily="34" charset="-120"/>
              </a:rPr>
              <a:t>.</a:t>
            </a:r>
            <a:endParaRPr lang="en-US" sz="5400" dirty="0"/>
          </a:p>
        </p:txBody>
      </p:sp>
      <p:sp>
        <p:nvSpPr>
          <p:cNvPr id="6" name="Text 3"/>
          <p:cNvSpPr/>
          <p:nvPr/>
        </p:nvSpPr>
        <p:spPr>
          <a:xfrm>
            <a:off x="1097280" y="4160520"/>
            <a:ext cx="9966960" cy="731520"/>
          </a:xfrm>
          <a:prstGeom prst="rect">
            <a:avLst/>
          </a:prstGeom>
          <a:noFill/>
          <a:ln/>
        </p:spPr>
        <p:txBody>
          <a:bodyPr wrap="square" lIns="0" tIns="0" rIns="0" bIns="0" rtlCol="0" anchor="t"/>
          <a:lstStyle/>
          <a:p>
            <a:pPr indent="0" marL="0">
              <a:buNone/>
            </a:pPr>
            <a:r>
              <a:rPr lang="en-US" sz="2800" dirty="0">
                <a:solidFill>
                  <a:srgbClr val="4A5561"/>
                </a:solidFill>
                <a:latin typeface="Avenir Next" pitchFamily="34" charset="0"/>
                <a:ea typeface="Avenir Next" pitchFamily="34" charset="-122"/>
                <a:cs typeface="Avenir Next" pitchFamily="34" charset="-120"/>
              </a:rPr>
              <a:t>Treatment only works if they don't.</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4 / 12</a:t>
            </a:r>
            <a:endParaRPr lang="en-US" sz="1100" dirty="0"/>
          </a:p>
        </p:txBody>
      </p:sp>
      <p:sp>
        <p:nvSpPr>
          <p:cNvPr id="5" name="Text 2"/>
          <p:cNvSpPr/>
          <p:nvPr/>
        </p:nvSpPr>
        <p:spPr>
          <a:xfrm>
            <a:off x="640080" y="502920"/>
            <a:ext cx="10881360" cy="82296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Time is short, and the usual screen misses strokes</a:t>
            </a:r>
            <a:endParaRPr lang="en-US" sz="4000" dirty="0"/>
          </a:p>
        </p:txBody>
      </p:sp>
      <p:sp>
        <p:nvSpPr>
          <p:cNvPr id="6" name="Shape 3"/>
          <p:cNvSpPr/>
          <p:nvPr/>
        </p:nvSpPr>
        <p:spPr>
          <a:xfrm>
            <a:off x="640080" y="1828800"/>
            <a:ext cx="3520440" cy="4023360"/>
          </a:xfrm>
          <a:prstGeom prst="roundRect">
            <a:avLst>
              <a:gd name="adj" fmla="val 3117"/>
            </a:avLst>
          </a:prstGeom>
          <a:solidFill>
            <a:srgbClr val="FFFFFF"/>
          </a:solidFill>
          <a:ln w="12700">
            <a:solidFill>
              <a:srgbClr val="E3E3DC"/>
            </a:solidFill>
            <a:prstDash val="solid"/>
          </a:ln>
        </p:spPr>
      </p:sp>
      <p:sp>
        <p:nvSpPr>
          <p:cNvPr id="7" name="Text 4"/>
          <p:cNvSpPr/>
          <p:nvPr/>
        </p:nvSpPr>
        <p:spPr>
          <a:xfrm>
            <a:off x="960120" y="2148840"/>
            <a:ext cx="2926080" cy="1005840"/>
          </a:xfrm>
          <a:prstGeom prst="rect">
            <a:avLst/>
          </a:prstGeom>
          <a:noFill/>
          <a:ln/>
        </p:spPr>
        <p:txBody>
          <a:bodyPr wrap="square" lIns="0" tIns="0" rIns="0" bIns="0" rtlCol="0" anchor="t"/>
          <a:lstStyle/>
          <a:p>
            <a:pPr indent="0" marL="0">
              <a:buNone/>
            </a:pPr>
            <a:r>
              <a:rPr lang="en-US" sz="4800" dirty="0">
                <a:solidFill>
                  <a:srgbClr val="0B5CAB"/>
                </a:solidFill>
                <a:latin typeface="Newsreader" pitchFamily="34" charset="0"/>
                <a:ea typeface="Newsreader" pitchFamily="34" charset="-122"/>
                <a:cs typeface="Newsreader" pitchFamily="34" charset="-120"/>
              </a:rPr>
              <a:t>4.5 hours</a:t>
            </a:r>
            <a:endParaRPr lang="en-US" sz="4800" dirty="0"/>
          </a:p>
        </p:txBody>
      </p:sp>
      <p:sp>
        <p:nvSpPr>
          <p:cNvPr id="8" name="Text 5"/>
          <p:cNvSpPr/>
          <p:nvPr/>
        </p:nvSpPr>
        <p:spPr>
          <a:xfrm>
            <a:off x="960120" y="3337560"/>
            <a:ext cx="2926080" cy="1737360"/>
          </a:xfrm>
          <a:prstGeom prst="rect">
            <a:avLst/>
          </a:prstGeom>
          <a:noFill/>
          <a:ln/>
        </p:spPr>
        <p:txBody>
          <a:bodyPr wrap="square" lIns="0" tIns="0" rIns="0" bIns="0" rtlCol="0" anchor="t"/>
          <a:lstStyle/>
          <a:p>
            <a:pPr indent="0" marL="0">
              <a:buNone/>
            </a:pPr>
            <a:r>
              <a:rPr lang="en-US" sz="1800" dirty="0">
                <a:solidFill>
                  <a:srgbClr val="4A5561"/>
                </a:solidFill>
                <a:latin typeface="Avenir Next" pitchFamily="34" charset="0"/>
                <a:ea typeface="Avenir Next" pitchFamily="34" charset="-122"/>
                <a:cs typeface="Avenir Next" pitchFamily="34" charset="-120"/>
              </a:rPr>
              <a:t>The clot-dissolving window, counted from the last moment the person was known to be well.</a:t>
            </a:r>
            <a:endParaRPr lang="en-US" sz="1800" dirty="0"/>
          </a:p>
        </p:txBody>
      </p:sp>
      <p:sp>
        <p:nvSpPr>
          <p:cNvPr id="9" name="Text 6"/>
          <p:cNvSpPr/>
          <p:nvPr/>
        </p:nvSpPr>
        <p:spPr>
          <a:xfrm>
            <a:off x="960120" y="5257800"/>
            <a:ext cx="292608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AHA/ASA guideline, 2019</a:t>
            </a:r>
            <a:endParaRPr lang="en-US" sz="1300" dirty="0"/>
          </a:p>
        </p:txBody>
      </p:sp>
      <p:sp>
        <p:nvSpPr>
          <p:cNvPr id="10" name="Shape 7"/>
          <p:cNvSpPr/>
          <p:nvPr/>
        </p:nvSpPr>
        <p:spPr>
          <a:xfrm>
            <a:off x="4343400" y="1828800"/>
            <a:ext cx="3520440" cy="4023360"/>
          </a:xfrm>
          <a:prstGeom prst="roundRect">
            <a:avLst>
              <a:gd name="adj" fmla="val 3117"/>
            </a:avLst>
          </a:prstGeom>
          <a:solidFill>
            <a:srgbClr val="FFFFFF"/>
          </a:solidFill>
          <a:ln w="12700">
            <a:solidFill>
              <a:srgbClr val="E3E3DC"/>
            </a:solidFill>
            <a:prstDash val="solid"/>
          </a:ln>
        </p:spPr>
      </p:sp>
      <p:sp>
        <p:nvSpPr>
          <p:cNvPr id="11" name="Text 8"/>
          <p:cNvSpPr/>
          <p:nvPr/>
        </p:nvSpPr>
        <p:spPr>
          <a:xfrm>
            <a:off x="4663440" y="2148840"/>
            <a:ext cx="2926080" cy="1005840"/>
          </a:xfrm>
          <a:prstGeom prst="rect">
            <a:avLst/>
          </a:prstGeom>
          <a:noFill/>
          <a:ln/>
        </p:spPr>
        <p:txBody>
          <a:bodyPr wrap="square" lIns="0" tIns="0" rIns="0" bIns="0" rtlCol="0" anchor="t"/>
          <a:lstStyle/>
          <a:p>
            <a:pPr indent="0" marL="0">
              <a:buNone/>
            </a:pPr>
            <a:r>
              <a:rPr lang="en-US" sz="4800" dirty="0">
                <a:solidFill>
                  <a:srgbClr val="0B5CAB"/>
                </a:solidFill>
                <a:latin typeface="Newsreader" pitchFamily="34" charset="0"/>
                <a:ea typeface="Newsreader" pitchFamily="34" charset="-122"/>
                <a:cs typeface="Newsreader" pitchFamily="34" charset="-120"/>
              </a:rPr>
              <a:t>24 hours</a:t>
            </a:r>
            <a:endParaRPr lang="en-US" sz="4800" dirty="0"/>
          </a:p>
        </p:txBody>
      </p:sp>
      <p:sp>
        <p:nvSpPr>
          <p:cNvPr id="12" name="Text 9"/>
          <p:cNvSpPr/>
          <p:nvPr/>
        </p:nvSpPr>
        <p:spPr>
          <a:xfrm>
            <a:off x="4663440" y="3337560"/>
            <a:ext cx="2926080" cy="1737360"/>
          </a:xfrm>
          <a:prstGeom prst="rect">
            <a:avLst/>
          </a:prstGeom>
          <a:noFill/>
          <a:ln/>
        </p:spPr>
        <p:txBody>
          <a:bodyPr wrap="square" lIns="0" tIns="0" rIns="0" bIns="0" rtlCol="0" anchor="t"/>
          <a:lstStyle/>
          <a:p>
            <a:pPr indent="0" marL="0">
              <a:buNone/>
            </a:pPr>
            <a:r>
              <a:rPr lang="en-US" sz="1800" dirty="0">
                <a:solidFill>
                  <a:srgbClr val="4A5561"/>
                </a:solidFill>
                <a:latin typeface="Avenir Next" pitchFamily="34" charset="0"/>
                <a:ea typeface="Avenir Next" pitchFamily="34" charset="-122"/>
                <a:cs typeface="Avenir Next" pitchFamily="34" charset="-120"/>
              </a:rPr>
              <a:t>The outer limit for mechanical clot removal, and only for carefully selected patients.</a:t>
            </a:r>
            <a:endParaRPr lang="en-US" sz="1800" dirty="0"/>
          </a:p>
        </p:txBody>
      </p:sp>
      <p:sp>
        <p:nvSpPr>
          <p:cNvPr id="13" name="Text 10"/>
          <p:cNvSpPr/>
          <p:nvPr/>
        </p:nvSpPr>
        <p:spPr>
          <a:xfrm>
            <a:off x="4663440" y="5257800"/>
            <a:ext cx="292608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AHA/ASA guideline, 2019</a:t>
            </a:r>
            <a:endParaRPr lang="en-US" sz="1300" dirty="0"/>
          </a:p>
        </p:txBody>
      </p:sp>
      <p:sp>
        <p:nvSpPr>
          <p:cNvPr id="14" name="Shape 11"/>
          <p:cNvSpPr/>
          <p:nvPr/>
        </p:nvSpPr>
        <p:spPr>
          <a:xfrm>
            <a:off x="8046720" y="1828800"/>
            <a:ext cx="3520440" cy="4023360"/>
          </a:xfrm>
          <a:prstGeom prst="roundRect">
            <a:avLst>
              <a:gd name="adj" fmla="val 3117"/>
            </a:avLst>
          </a:prstGeom>
          <a:solidFill>
            <a:srgbClr val="FFFFFF"/>
          </a:solidFill>
          <a:ln w="12700">
            <a:solidFill>
              <a:srgbClr val="E3E3DC"/>
            </a:solidFill>
            <a:prstDash val="solid"/>
          </a:ln>
        </p:spPr>
      </p:sp>
      <p:sp>
        <p:nvSpPr>
          <p:cNvPr id="15" name="Text 12"/>
          <p:cNvSpPr/>
          <p:nvPr/>
        </p:nvSpPr>
        <p:spPr>
          <a:xfrm>
            <a:off x="8366760" y="2148840"/>
            <a:ext cx="2926080" cy="1005840"/>
          </a:xfrm>
          <a:prstGeom prst="rect">
            <a:avLst/>
          </a:prstGeom>
          <a:noFill/>
          <a:ln/>
        </p:spPr>
        <p:txBody>
          <a:bodyPr wrap="square" lIns="0" tIns="0" rIns="0" bIns="0" rtlCol="0" anchor="t"/>
          <a:lstStyle/>
          <a:p>
            <a:pPr indent="0" marL="0">
              <a:buNone/>
            </a:pPr>
            <a:r>
              <a:rPr lang="en-US" sz="4800" dirty="0">
                <a:solidFill>
                  <a:srgbClr val="0B5CAB"/>
                </a:solidFill>
                <a:latin typeface="Newsreader" pitchFamily="34" charset="0"/>
                <a:ea typeface="Newsreader" pitchFamily="34" charset="-122"/>
                <a:cs typeface="Newsreader" pitchFamily="34" charset="-120"/>
              </a:rPr>
              <a:t>14% → 4%</a:t>
            </a:r>
            <a:endParaRPr lang="en-US" sz="4800" dirty="0"/>
          </a:p>
        </p:txBody>
      </p:sp>
      <p:sp>
        <p:nvSpPr>
          <p:cNvPr id="16" name="Text 13"/>
          <p:cNvSpPr/>
          <p:nvPr/>
        </p:nvSpPr>
        <p:spPr>
          <a:xfrm>
            <a:off x="8366760" y="3337560"/>
            <a:ext cx="2926080" cy="1737360"/>
          </a:xfrm>
          <a:prstGeom prst="rect">
            <a:avLst/>
          </a:prstGeom>
          <a:noFill/>
          <a:ln/>
        </p:spPr>
        <p:txBody>
          <a:bodyPr wrap="square" lIns="0" tIns="0" rIns="0" bIns="0" rtlCol="0" anchor="t"/>
          <a:lstStyle/>
          <a:p>
            <a:pPr indent="0" marL="0">
              <a:buNone/>
            </a:pPr>
            <a:r>
              <a:rPr lang="en-US" sz="1800" dirty="0">
                <a:solidFill>
                  <a:srgbClr val="4A5561"/>
                </a:solidFill>
                <a:latin typeface="Avenir Next" pitchFamily="34" charset="0"/>
                <a:ea typeface="Avenir Next" pitchFamily="34" charset="-122"/>
                <a:cs typeface="Avenir Next" pitchFamily="34" charset="-120"/>
              </a:rPr>
              <a:t>Strokes missed when the screen adds Balance and Eyes to the classic FAST checks.</a:t>
            </a:r>
            <a:endParaRPr lang="en-US" sz="1800" dirty="0"/>
          </a:p>
        </p:txBody>
      </p:sp>
      <p:sp>
        <p:nvSpPr>
          <p:cNvPr id="17" name="Text 14"/>
          <p:cNvSpPr/>
          <p:nvPr/>
        </p:nvSpPr>
        <p:spPr>
          <a:xfrm>
            <a:off x="8366760" y="5257800"/>
            <a:ext cx="292608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Aroor et al., Stroke, 2017</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5 / 12</a:t>
            </a:r>
            <a:endParaRPr lang="en-US" sz="1100" dirty="0"/>
          </a:p>
        </p:txBody>
      </p:sp>
      <p:sp>
        <p:nvSpPr>
          <p:cNvPr id="5" name="Text 2"/>
          <p:cNvSpPr/>
          <p:nvPr/>
        </p:nvSpPr>
        <p:spPr>
          <a:xfrm>
            <a:off x="1097280" y="1737360"/>
            <a:ext cx="7315200" cy="457200"/>
          </a:xfrm>
          <a:prstGeom prst="rect">
            <a:avLst/>
          </a:prstGeom>
          <a:noFill/>
          <a:ln/>
        </p:spPr>
        <p:txBody>
          <a:bodyPr wrap="square" lIns="0" tIns="0" rIns="0" bIns="0" rtlCol="0" anchor="ctr"/>
          <a:lstStyle/>
          <a:p>
            <a:pPr indent="0" marL="0">
              <a:buNone/>
            </a:pPr>
            <a:r>
              <a:rPr lang="en-US" sz="2200" dirty="0">
                <a:solidFill>
                  <a:srgbClr val="6B7683"/>
                </a:solidFill>
                <a:latin typeface="Avenir Next" pitchFamily="34" charset="0"/>
                <a:ea typeface="Avenir Next" pitchFamily="34" charset="-122"/>
                <a:cs typeface="Avenir Next" pitchFamily="34" charset="-120"/>
              </a:rPr>
              <a:t>How might we…</a:t>
            </a:r>
            <a:endParaRPr lang="en-US" sz="2200" dirty="0"/>
          </a:p>
        </p:txBody>
      </p:sp>
      <p:sp>
        <p:nvSpPr>
          <p:cNvPr id="6" name="Text 3"/>
          <p:cNvSpPr/>
          <p:nvPr/>
        </p:nvSpPr>
        <p:spPr>
          <a:xfrm>
            <a:off x="1097280" y="2377440"/>
            <a:ext cx="9966960" cy="2743200"/>
          </a:xfrm>
          <a:prstGeom prst="rect">
            <a:avLst/>
          </a:prstGeom>
          <a:noFill/>
          <a:ln/>
        </p:spPr>
        <p:txBody>
          <a:bodyPr wrap="square" lIns="0" tIns="0" rIns="0" bIns="0" rtlCol="0" anchor="t"/>
          <a:lstStyle/>
          <a:p>
            <a:pPr indent="0" marL="0">
              <a:buNone/>
            </a:pPr>
            <a:r>
              <a:rPr lang="en-US" sz="4600" dirty="0">
                <a:solidFill>
                  <a:srgbClr val="12161B"/>
                </a:solidFill>
                <a:latin typeface="Newsreader" pitchFamily="34" charset="0"/>
                <a:ea typeface="Newsreader" pitchFamily="34" charset="-122"/>
                <a:cs typeface="Newsreader" pitchFamily="34" charset="-120"/>
              </a:rPr>
              <a:t>help someone alone, with only a webcam, tell in two minutes whether what they feel needs an ambulance?</a:t>
            </a:r>
            <a:endParaRPr lang="en-US" sz="4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6 / 12</a:t>
            </a:r>
            <a:endParaRPr lang="en-US" sz="1100" dirty="0"/>
          </a:p>
        </p:txBody>
      </p:sp>
      <p:sp>
        <p:nvSpPr>
          <p:cNvPr id="5" name="Text 2"/>
          <p:cNvSpPr/>
          <p:nvPr/>
        </p:nvSpPr>
        <p:spPr>
          <a:xfrm>
            <a:off x="822960" y="731520"/>
            <a:ext cx="6858000" cy="914400"/>
          </a:xfrm>
          <a:prstGeom prst="rect">
            <a:avLst/>
          </a:prstGeom>
          <a:noFill/>
          <a:ln/>
        </p:spPr>
        <p:txBody>
          <a:bodyPr wrap="square" lIns="0" tIns="0" rIns="0" bIns="0" rtlCol="0" anchor="t"/>
          <a:lstStyle/>
          <a:p>
            <a:pPr indent="0" marL="0">
              <a:buNone/>
            </a:pPr>
            <a:r>
              <a:rPr lang="en-US" sz="5000" dirty="0">
                <a:solidFill>
                  <a:srgbClr val="12161B"/>
                </a:solidFill>
                <a:latin typeface="Newsreader" pitchFamily="34" charset="0"/>
                <a:ea typeface="Newsreader" pitchFamily="34" charset="-122"/>
                <a:cs typeface="Newsreader" pitchFamily="34" charset="-120"/>
              </a:rPr>
              <a:t>Meet StrokeShield</a:t>
            </a:r>
            <a:endParaRPr lang="en-US" sz="5000" dirty="0"/>
          </a:p>
        </p:txBody>
      </p:sp>
      <p:sp>
        <p:nvSpPr>
          <p:cNvPr id="6" name="Text 3"/>
          <p:cNvSpPr/>
          <p:nvPr/>
        </p:nvSpPr>
        <p:spPr>
          <a:xfrm>
            <a:off x="822960" y="1645920"/>
            <a:ext cx="6858000" cy="457200"/>
          </a:xfrm>
          <a:prstGeom prst="rect">
            <a:avLst/>
          </a:prstGeom>
          <a:noFill/>
          <a:ln/>
        </p:spPr>
        <p:txBody>
          <a:bodyPr wrap="square" lIns="0" tIns="0" rIns="0" bIns="0" rtlCol="0" anchor="ctr"/>
          <a:lstStyle/>
          <a:p>
            <a:pPr indent="0" marL="0">
              <a:buNone/>
            </a:pPr>
            <a:r>
              <a:rPr lang="en-US" sz="2000" dirty="0">
                <a:solidFill>
                  <a:srgbClr val="4A5561"/>
                </a:solidFill>
                <a:latin typeface="Avenir Next" pitchFamily="34" charset="0"/>
                <a:ea typeface="Avenir Next" pitchFamily="34" charset="-122"/>
                <a:cs typeface="Avenir Next" pitchFamily="34" charset="-120"/>
              </a:rPr>
              <a:t>A calm guide for the first two minutes.</a:t>
            </a:r>
            <a:endParaRPr lang="en-US" sz="2000" dirty="0"/>
          </a:p>
        </p:txBody>
      </p:sp>
      <p:sp>
        <p:nvSpPr>
          <p:cNvPr id="7" name="Shape 4"/>
          <p:cNvSpPr/>
          <p:nvPr/>
        </p:nvSpPr>
        <p:spPr>
          <a:xfrm>
            <a:off x="822960" y="2560320"/>
            <a:ext cx="0" cy="3383280"/>
          </a:xfrm>
          <a:prstGeom prst="line">
            <a:avLst/>
          </a:prstGeom>
          <a:noFill/>
          <a:ln w="12700">
            <a:solidFill>
              <a:srgbClr val="C9C9C0"/>
            </a:solidFill>
            <a:prstDash val="solid"/>
          </a:ln>
        </p:spPr>
      </p:sp>
      <p:sp>
        <p:nvSpPr>
          <p:cNvPr id="8" name="Text 5"/>
          <p:cNvSpPr/>
          <p:nvPr/>
        </p:nvSpPr>
        <p:spPr>
          <a:xfrm>
            <a:off x="1143000" y="2514600"/>
            <a:ext cx="630936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Four short checks</a:t>
            </a:r>
            <a:endParaRPr lang="en-US" sz="2600" dirty="0"/>
          </a:p>
        </p:txBody>
      </p:sp>
      <p:sp>
        <p:nvSpPr>
          <p:cNvPr id="9" name="Text 6"/>
          <p:cNvSpPr/>
          <p:nvPr/>
        </p:nvSpPr>
        <p:spPr>
          <a:xfrm>
            <a:off x="1143000" y="2990088"/>
            <a:ext cx="6309360" cy="68580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Eyes, face, arms and speech: the same signs paramedics ask about.</a:t>
            </a:r>
            <a:endParaRPr lang="en-US" sz="1500" dirty="0"/>
          </a:p>
        </p:txBody>
      </p:sp>
      <p:sp>
        <p:nvSpPr>
          <p:cNvPr id="10" name="Text 7"/>
          <p:cNvSpPr/>
          <p:nvPr/>
        </p:nvSpPr>
        <p:spPr>
          <a:xfrm>
            <a:off x="1143000" y="3721608"/>
            <a:ext cx="630936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A voice that guides you</a:t>
            </a:r>
            <a:endParaRPr lang="en-US" sz="2600" dirty="0"/>
          </a:p>
        </p:txBody>
      </p:sp>
      <p:sp>
        <p:nvSpPr>
          <p:cNvPr id="11" name="Text 8"/>
          <p:cNvSpPr/>
          <p:nvPr/>
        </p:nvSpPr>
        <p:spPr>
          <a:xfrm>
            <a:off x="1143000" y="4197096"/>
            <a:ext cx="6309360" cy="68580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It talks you through each step. It never diagnoses.</a:t>
            </a:r>
            <a:endParaRPr lang="en-US" sz="1500" dirty="0"/>
          </a:p>
        </p:txBody>
      </p:sp>
      <p:sp>
        <p:nvSpPr>
          <p:cNvPr id="12" name="Text 9"/>
          <p:cNvSpPr/>
          <p:nvPr/>
        </p:nvSpPr>
        <p:spPr>
          <a:xfrm>
            <a:off x="1143000" y="4928616"/>
            <a:ext cx="630936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A clear decision</a:t>
            </a:r>
            <a:endParaRPr lang="en-US" sz="2600" dirty="0"/>
          </a:p>
        </p:txBody>
      </p:sp>
      <p:sp>
        <p:nvSpPr>
          <p:cNvPr id="13" name="Text 10"/>
          <p:cNvSpPr/>
          <p:nvPr/>
        </p:nvSpPr>
        <p:spPr>
          <a:xfrm>
            <a:off x="1143000" y="5404104"/>
            <a:ext cx="6309360" cy="68580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Strong signs start a 10-second countdown, then a text with your location.</a:t>
            </a:r>
            <a:endParaRPr lang="en-US" sz="1500" dirty="0"/>
          </a:p>
        </p:txBody>
      </p:sp>
      <p:sp>
        <p:nvSpPr>
          <p:cNvPr id="14" name="Shape 11"/>
          <p:cNvSpPr/>
          <p:nvPr/>
        </p:nvSpPr>
        <p:spPr>
          <a:xfrm>
            <a:off x="8229600" y="914400"/>
            <a:ext cx="3291840" cy="731520"/>
          </a:xfrm>
          <a:prstGeom prst="roundRect">
            <a:avLst>
              <a:gd name="adj" fmla="val 15000"/>
            </a:avLst>
          </a:prstGeom>
          <a:solidFill>
            <a:srgbClr val="FFFFFF"/>
          </a:solidFill>
          <a:ln w="12700">
            <a:solidFill>
              <a:srgbClr val="E3E3DC"/>
            </a:solidFill>
            <a:prstDash val="solid"/>
          </a:ln>
        </p:spPr>
      </p:sp>
      <p:sp>
        <p:nvSpPr>
          <p:cNvPr id="15" name="Shape 12"/>
          <p:cNvSpPr/>
          <p:nvPr/>
        </p:nvSpPr>
        <p:spPr>
          <a:xfrm>
            <a:off x="8430768" y="1088136"/>
            <a:ext cx="384048" cy="384048"/>
          </a:xfrm>
          <a:prstGeom prst="ellipse">
            <a:avLst/>
          </a:prstGeom>
          <a:solidFill>
            <a:srgbClr val="EAF1F9"/>
          </a:solidFill>
          <a:ln w="12700">
            <a:solidFill>
              <a:srgbClr val="EAF1F9"/>
            </a:solidFill>
            <a:prstDash val="solid"/>
          </a:ln>
        </p:spPr>
      </p:sp>
      <p:sp>
        <p:nvSpPr>
          <p:cNvPr id="16" name="Text 13"/>
          <p:cNvSpPr/>
          <p:nvPr/>
        </p:nvSpPr>
        <p:spPr>
          <a:xfrm>
            <a:off x="8430768" y="1088136"/>
            <a:ext cx="384048" cy="384048"/>
          </a:xfrm>
          <a:prstGeom prst="rect">
            <a:avLst/>
          </a:prstGeom>
          <a:noFill/>
          <a:ln/>
        </p:spPr>
        <p:txBody>
          <a:bodyPr wrap="square" lIns="0" tIns="0" rIns="0" bIns="0" rtlCol="0" anchor="ctr"/>
          <a:lstStyle/>
          <a:p>
            <a:pPr algn="ctr" indent="0" marL="0">
              <a:buNone/>
            </a:pPr>
            <a:r>
              <a:rPr lang="en-US" sz="1400" b="1" dirty="0">
                <a:solidFill>
                  <a:srgbClr val="0B5CAB"/>
                </a:solidFill>
                <a:latin typeface="Avenir Next" pitchFamily="34" charset="0"/>
                <a:ea typeface="Avenir Next" pitchFamily="34" charset="-122"/>
                <a:cs typeface="Avenir Next" pitchFamily="34" charset="-120"/>
              </a:rPr>
              <a:t>1</a:t>
            </a:r>
            <a:endParaRPr lang="en-US" sz="1400" dirty="0"/>
          </a:p>
        </p:txBody>
      </p:sp>
      <p:sp>
        <p:nvSpPr>
          <p:cNvPr id="17" name="Text 14"/>
          <p:cNvSpPr/>
          <p:nvPr/>
        </p:nvSpPr>
        <p:spPr>
          <a:xfrm>
            <a:off x="9006840" y="1005840"/>
            <a:ext cx="2286000" cy="548640"/>
          </a:xfrm>
          <a:prstGeom prst="rect">
            <a:avLst/>
          </a:prstGeom>
          <a:noFill/>
          <a:ln/>
        </p:spPr>
        <p:txBody>
          <a:bodyPr wrap="square" lIns="0" tIns="0" rIns="0" bIns="0" rtlCol="0" anchor="ctr"/>
          <a:lstStyle/>
          <a:p>
            <a:pPr indent="0" marL="0">
              <a:buNone/>
            </a:pPr>
            <a:r>
              <a:rPr lang="en-US" sz="2400" dirty="0">
                <a:solidFill>
                  <a:srgbClr val="12161B"/>
                </a:solidFill>
                <a:latin typeface="Newsreader" pitchFamily="34" charset="0"/>
                <a:ea typeface="Newsreader" pitchFamily="34" charset="-122"/>
                <a:cs typeface="Newsreader" pitchFamily="34" charset="-120"/>
              </a:rPr>
              <a:t>Eyes</a:t>
            </a:r>
            <a:endParaRPr lang="en-US" sz="2400" dirty="0"/>
          </a:p>
        </p:txBody>
      </p:sp>
      <p:sp>
        <p:nvSpPr>
          <p:cNvPr id="18" name="Shape 15"/>
          <p:cNvSpPr/>
          <p:nvPr/>
        </p:nvSpPr>
        <p:spPr>
          <a:xfrm>
            <a:off x="8229600" y="1828800"/>
            <a:ext cx="3291840" cy="731520"/>
          </a:xfrm>
          <a:prstGeom prst="roundRect">
            <a:avLst>
              <a:gd name="adj" fmla="val 15000"/>
            </a:avLst>
          </a:prstGeom>
          <a:solidFill>
            <a:srgbClr val="FFFFFF"/>
          </a:solidFill>
          <a:ln w="12700">
            <a:solidFill>
              <a:srgbClr val="E3E3DC"/>
            </a:solidFill>
            <a:prstDash val="solid"/>
          </a:ln>
        </p:spPr>
      </p:sp>
      <p:sp>
        <p:nvSpPr>
          <p:cNvPr id="19" name="Shape 16"/>
          <p:cNvSpPr/>
          <p:nvPr/>
        </p:nvSpPr>
        <p:spPr>
          <a:xfrm>
            <a:off x="8430768" y="2002536"/>
            <a:ext cx="384048" cy="384048"/>
          </a:xfrm>
          <a:prstGeom prst="ellipse">
            <a:avLst/>
          </a:prstGeom>
          <a:solidFill>
            <a:srgbClr val="EAF1F9"/>
          </a:solidFill>
          <a:ln w="12700">
            <a:solidFill>
              <a:srgbClr val="EAF1F9"/>
            </a:solidFill>
            <a:prstDash val="solid"/>
          </a:ln>
        </p:spPr>
      </p:sp>
      <p:sp>
        <p:nvSpPr>
          <p:cNvPr id="20" name="Text 17"/>
          <p:cNvSpPr/>
          <p:nvPr/>
        </p:nvSpPr>
        <p:spPr>
          <a:xfrm>
            <a:off x="8430768" y="2002536"/>
            <a:ext cx="384048" cy="384048"/>
          </a:xfrm>
          <a:prstGeom prst="rect">
            <a:avLst/>
          </a:prstGeom>
          <a:noFill/>
          <a:ln/>
        </p:spPr>
        <p:txBody>
          <a:bodyPr wrap="square" lIns="0" tIns="0" rIns="0" bIns="0" rtlCol="0" anchor="ctr"/>
          <a:lstStyle/>
          <a:p>
            <a:pPr algn="ctr" indent="0" marL="0">
              <a:buNone/>
            </a:pPr>
            <a:r>
              <a:rPr lang="en-US" sz="1400" b="1" dirty="0">
                <a:solidFill>
                  <a:srgbClr val="0B5CAB"/>
                </a:solidFill>
                <a:latin typeface="Avenir Next" pitchFamily="34" charset="0"/>
                <a:ea typeface="Avenir Next" pitchFamily="34" charset="-122"/>
                <a:cs typeface="Avenir Next" pitchFamily="34" charset="-120"/>
              </a:rPr>
              <a:t>2</a:t>
            </a:r>
            <a:endParaRPr lang="en-US" sz="1400" dirty="0"/>
          </a:p>
        </p:txBody>
      </p:sp>
      <p:sp>
        <p:nvSpPr>
          <p:cNvPr id="21" name="Text 18"/>
          <p:cNvSpPr/>
          <p:nvPr/>
        </p:nvSpPr>
        <p:spPr>
          <a:xfrm>
            <a:off x="9006840" y="1920240"/>
            <a:ext cx="2286000" cy="548640"/>
          </a:xfrm>
          <a:prstGeom prst="rect">
            <a:avLst/>
          </a:prstGeom>
          <a:noFill/>
          <a:ln/>
        </p:spPr>
        <p:txBody>
          <a:bodyPr wrap="square" lIns="0" tIns="0" rIns="0" bIns="0" rtlCol="0" anchor="ctr"/>
          <a:lstStyle/>
          <a:p>
            <a:pPr indent="0" marL="0">
              <a:buNone/>
            </a:pPr>
            <a:r>
              <a:rPr lang="en-US" sz="2400" dirty="0">
                <a:solidFill>
                  <a:srgbClr val="12161B"/>
                </a:solidFill>
                <a:latin typeface="Newsreader" pitchFamily="34" charset="0"/>
                <a:ea typeface="Newsreader" pitchFamily="34" charset="-122"/>
                <a:cs typeface="Newsreader" pitchFamily="34" charset="-120"/>
              </a:rPr>
              <a:t>Face</a:t>
            </a:r>
            <a:endParaRPr lang="en-US" sz="2400" dirty="0"/>
          </a:p>
        </p:txBody>
      </p:sp>
      <p:sp>
        <p:nvSpPr>
          <p:cNvPr id="22" name="Shape 19"/>
          <p:cNvSpPr/>
          <p:nvPr/>
        </p:nvSpPr>
        <p:spPr>
          <a:xfrm>
            <a:off x="8229600" y="2743200"/>
            <a:ext cx="3291840" cy="731520"/>
          </a:xfrm>
          <a:prstGeom prst="roundRect">
            <a:avLst>
              <a:gd name="adj" fmla="val 15000"/>
            </a:avLst>
          </a:prstGeom>
          <a:solidFill>
            <a:srgbClr val="FFFFFF"/>
          </a:solidFill>
          <a:ln w="12700">
            <a:solidFill>
              <a:srgbClr val="E3E3DC"/>
            </a:solidFill>
            <a:prstDash val="solid"/>
          </a:ln>
        </p:spPr>
      </p:sp>
      <p:sp>
        <p:nvSpPr>
          <p:cNvPr id="23" name="Shape 20"/>
          <p:cNvSpPr/>
          <p:nvPr/>
        </p:nvSpPr>
        <p:spPr>
          <a:xfrm>
            <a:off x="8430768" y="2916936"/>
            <a:ext cx="384048" cy="384048"/>
          </a:xfrm>
          <a:prstGeom prst="ellipse">
            <a:avLst/>
          </a:prstGeom>
          <a:solidFill>
            <a:srgbClr val="EAF1F9"/>
          </a:solidFill>
          <a:ln w="12700">
            <a:solidFill>
              <a:srgbClr val="EAF1F9"/>
            </a:solidFill>
            <a:prstDash val="solid"/>
          </a:ln>
        </p:spPr>
      </p:sp>
      <p:sp>
        <p:nvSpPr>
          <p:cNvPr id="24" name="Text 21"/>
          <p:cNvSpPr/>
          <p:nvPr/>
        </p:nvSpPr>
        <p:spPr>
          <a:xfrm>
            <a:off x="8430768" y="2916936"/>
            <a:ext cx="384048" cy="384048"/>
          </a:xfrm>
          <a:prstGeom prst="rect">
            <a:avLst/>
          </a:prstGeom>
          <a:noFill/>
          <a:ln/>
        </p:spPr>
        <p:txBody>
          <a:bodyPr wrap="square" lIns="0" tIns="0" rIns="0" bIns="0" rtlCol="0" anchor="ctr"/>
          <a:lstStyle/>
          <a:p>
            <a:pPr algn="ctr" indent="0" marL="0">
              <a:buNone/>
            </a:pPr>
            <a:r>
              <a:rPr lang="en-US" sz="1400" b="1" dirty="0">
                <a:solidFill>
                  <a:srgbClr val="0B5CAB"/>
                </a:solidFill>
                <a:latin typeface="Avenir Next" pitchFamily="34" charset="0"/>
                <a:ea typeface="Avenir Next" pitchFamily="34" charset="-122"/>
                <a:cs typeface="Avenir Next" pitchFamily="34" charset="-120"/>
              </a:rPr>
              <a:t>3</a:t>
            </a:r>
            <a:endParaRPr lang="en-US" sz="1400" dirty="0"/>
          </a:p>
        </p:txBody>
      </p:sp>
      <p:sp>
        <p:nvSpPr>
          <p:cNvPr id="25" name="Text 22"/>
          <p:cNvSpPr/>
          <p:nvPr/>
        </p:nvSpPr>
        <p:spPr>
          <a:xfrm>
            <a:off x="9006840" y="2834640"/>
            <a:ext cx="2286000" cy="548640"/>
          </a:xfrm>
          <a:prstGeom prst="rect">
            <a:avLst/>
          </a:prstGeom>
          <a:noFill/>
          <a:ln/>
        </p:spPr>
        <p:txBody>
          <a:bodyPr wrap="square" lIns="0" tIns="0" rIns="0" bIns="0" rtlCol="0" anchor="ctr"/>
          <a:lstStyle/>
          <a:p>
            <a:pPr indent="0" marL="0">
              <a:buNone/>
            </a:pPr>
            <a:r>
              <a:rPr lang="en-US" sz="2400" dirty="0">
                <a:solidFill>
                  <a:srgbClr val="12161B"/>
                </a:solidFill>
                <a:latin typeface="Newsreader" pitchFamily="34" charset="0"/>
                <a:ea typeface="Newsreader" pitchFamily="34" charset="-122"/>
                <a:cs typeface="Newsreader" pitchFamily="34" charset="-120"/>
              </a:rPr>
              <a:t>Arms</a:t>
            </a:r>
            <a:endParaRPr lang="en-US" sz="2400" dirty="0"/>
          </a:p>
        </p:txBody>
      </p:sp>
      <p:sp>
        <p:nvSpPr>
          <p:cNvPr id="26" name="Shape 23"/>
          <p:cNvSpPr/>
          <p:nvPr/>
        </p:nvSpPr>
        <p:spPr>
          <a:xfrm>
            <a:off x="8229600" y="3657600"/>
            <a:ext cx="3291840" cy="731520"/>
          </a:xfrm>
          <a:prstGeom prst="roundRect">
            <a:avLst>
              <a:gd name="adj" fmla="val 15000"/>
            </a:avLst>
          </a:prstGeom>
          <a:solidFill>
            <a:srgbClr val="FFFFFF"/>
          </a:solidFill>
          <a:ln w="12700">
            <a:solidFill>
              <a:srgbClr val="E3E3DC"/>
            </a:solidFill>
            <a:prstDash val="solid"/>
          </a:ln>
        </p:spPr>
      </p:sp>
      <p:sp>
        <p:nvSpPr>
          <p:cNvPr id="27" name="Shape 24"/>
          <p:cNvSpPr/>
          <p:nvPr/>
        </p:nvSpPr>
        <p:spPr>
          <a:xfrm>
            <a:off x="8430768" y="3831336"/>
            <a:ext cx="384048" cy="384048"/>
          </a:xfrm>
          <a:prstGeom prst="ellipse">
            <a:avLst/>
          </a:prstGeom>
          <a:solidFill>
            <a:srgbClr val="EAF1F9"/>
          </a:solidFill>
          <a:ln w="12700">
            <a:solidFill>
              <a:srgbClr val="EAF1F9"/>
            </a:solidFill>
            <a:prstDash val="solid"/>
          </a:ln>
        </p:spPr>
      </p:sp>
      <p:sp>
        <p:nvSpPr>
          <p:cNvPr id="28" name="Text 25"/>
          <p:cNvSpPr/>
          <p:nvPr/>
        </p:nvSpPr>
        <p:spPr>
          <a:xfrm>
            <a:off x="8430768" y="3831336"/>
            <a:ext cx="384048" cy="384048"/>
          </a:xfrm>
          <a:prstGeom prst="rect">
            <a:avLst/>
          </a:prstGeom>
          <a:noFill/>
          <a:ln/>
        </p:spPr>
        <p:txBody>
          <a:bodyPr wrap="square" lIns="0" tIns="0" rIns="0" bIns="0" rtlCol="0" anchor="ctr"/>
          <a:lstStyle/>
          <a:p>
            <a:pPr algn="ctr" indent="0" marL="0">
              <a:buNone/>
            </a:pPr>
            <a:r>
              <a:rPr lang="en-US" sz="1400" b="1" dirty="0">
                <a:solidFill>
                  <a:srgbClr val="0B5CAB"/>
                </a:solidFill>
                <a:latin typeface="Avenir Next" pitchFamily="34" charset="0"/>
                <a:ea typeface="Avenir Next" pitchFamily="34" charset="-122"/>
                <a:cs typeface="Avenir Next" pitchFamily="34" charset="-120"/>
              </a:rPr>
              <a:t>4</a:t>
            </a:r>
            <a:endParaRPr lang="en-US" sz="1400" dirty="0"/>
          </a:p>
        </p:txBody>
      </p:sp>
      <p:sp>
        <p:nvSpPr>
          <p:cNvPr id="29" name="Text 26"/>
          <p:cNvSpPr/>
          <p:nvPr/>
        </p:nvSpPr>
        <p:spPr>
          <a:xfrm>
            <a:off x="9006840" y="3749040"/>
            <a:ext cx="2286000" cy="548640"/>
          </a:xfrm>
          <a:prstGeom prst="rect">
            <a:avLst/>
          </a:prstGeom>
          <a:noFill/>
          <a:ln/>
        </p:spPr>
        <p:txBody>
          <a:bodyPr wrap="square" lIns="0" tIns="0" rIns="0" bIns="0" rtlCol="0" anchor="ctr"/>
          <a:lstStyle/>
          <a:p>
            <a:pPr indent="0" marL="0">
              <a:buNone/>
            </a:pPr>
            <a:r>
              <a:rPr lang="en-US" sz="2400" dirty="0">
                <a:solidFill>
                  <a:srgbClr val="12161B"/>
                </a:solidFill>
                <a:latin typeface="Newsreader" pitchFamily="34" charset="0"/>
                <a:ea typeface="Newsreader" pitchFamily="34" charset="-122"/>
                <a:cs typeface="Newsreader" pitchFamily="34" charset="-120"/>
              </a:rPr>
              <a:t>Speech</a:t>
            </a:r>
            <a:endParaRPr lang="en-US" sz="2400" dirty="0"/>
          </a:p>
        </p:txBody>
      </p:sp>
      <p:sp>
        <p:nvSpPr>
          <p:cNvPr id="30" name="Shape 27"/>
          <p:cNvSpPr/>
          <p:nvPr/>
        </p:nvSpPr>
        <p:spPr>
          <a:xfrm>
            <a:off x="8229600" y="4617720"/>
            <a:ext cx="3291840" cy="868680"/>
          </a:xfrm>
          <a:prstGeom prst="roundRect">
            <a:avLst>
              <a:gd name="adj" fmla="val 12632"/>
            </a:avLst>
          </a:prstGeom>
          <a:solidFill>
            <a:srgbClr val="0B5CAB"/>
          </a:solidFill>
          <a:ln w="12700">
            <a:solidFill>
              <a:srgbClr val="0B5CAB"/>
            </a:solidFill>
            <a:prstDash val="solid"/>
          </a:ln>
        </p:spPr>
      </p:sp>
      <p:sp>
        <p:nvSpPr>
          <p:cNvPr id="31" name="Text 28"/>
          <p:cNvSpPr/>
          <p:nvPr/>
        </p:nvSpPr>
        <p:spPr>
          <a:xfrm>
            <a:off x="8229600" y="4617720"/>
            <a:ext cx="3291840" cy="868680"/>
          </a:xfrm>
          <a:prstGeom prst="rect">
            <a:avLst/>
          </a:prstGeom>
          <a:noFill/>
          <a:ln/>
        </p:spPr>
        <p:txBody>
          <a:bodyPr wrap="square" lIns="0" tIns="0" rIns="0" bIns="0" rtlCol="0" anchor="ctr"/>
          <a:lstStyle/>
          <a:p>
            <a:pPr algn="ctr" indent="0" marL="0">
              <a:buNone/>
            </a:pPr>
            <a:r>
              <a:rPr lang="en-US" sz="2600" dirty="0">
                <a:solidFill>
                  <a:srgbClr val="FFFFFF"/>
                </a:solidFill>
                <a:latin typeface="Newsreader" pitchFamily="34" charset="0"/>
                <a:ea typeface="Newsreader" pitchFamily="34" charset="-122"/>
                <a:cs typeface="Newsreader" pitchFamily="34" charset="-120"/>
              </a:rPr>
              <a:t>Then a decision</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7 / 12</a:t>
            </a:r>
            <a:endParaRPr lang="en-US" sz="1100" dirty="0"/>
          </a:p>
        </p:txBody>
      </p:sp>
      <p:sp>
        <p:nvSpPr>
          <p:cNvPr id="5" name="Text 2"/>
          <p:cNvSpPr/>
          <p:nvPr/>
        </p:nvSpPr>
        <p:spPr>
          <a:xfrm>
            <a:off x="640080" y="502920"/>
            <a:ext cx="10881360" cy="64008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What it looks like</a:t>
            </a:r>
            <a:endParaRPr lang="en-US" sz="4000" dirty="0"/>
          </a:p>
        </p:txBody>
      </p:sp>
      <p:sp>
        <p:nvSpPr>
          <p:cNvPr id="6" name="Shape 3"/>
          <p:cNvSpPr/>
          <p:nvPr/>
        </p:nvSpPr>
        <p:spPr>
          <a:xfrm>
            <a:off x="640080" y="1508760"/>
            <a:ext cx="3566160" cy="2743200"/>
          </a:xfrm>
          <a:prstGeom prst="roundRect">
            <a:avLst>
              <a:gd name="adj" fmla="val 4000"/>
            </a:avLst>
          </a:prstGeom>
          <a:solidFill>
            <a:srgbClr val="FFFFFF"/>
          </a:solidFill>
          <a:ln w="12700">
            <a:solidFill>
              <a:srgbClr val="E3E3DC"/>
            </a:solidFill>
            <a:prstDash val="solid"/>
          </a:ln>
        </p:spPr>
      </p:sp>
      <p:pic>
        <p:nvPicPr>
          <p:cNvPr id="7" name="Image 0" descr="home.png">    </p:cNvPr>
          <p:cNvPicPr>
            <a:picLocks noChangeAspect="1"/>
          </p:cNvPicPr>
          <p:nvPr/>
        </p:nvPicPr>
        <p:blipFill>
          <a:blip r:embed="rId1"/>
          <a:stretch>
            <a:fillRect/>
          </a:stretch>
        </p:blipFill>
        <p:spPr>
          <a:xfrm>
            <a:off x="822960" y="1880235"/>
            <a:ext cx="3200400" cy="2000250"/>
          </a:xfrm>
          <a:prstGeom prst="rect">
            <a:avLst/>
          </a:prstGeom>
        </p:spPr>
      </p:pic>
      <p:sp>
        <p:nvSpPr>
          <p:cNvPr id="8" name="Text 4"/>
          <p:cNvSpPr/>
          <p:nvPr/>
        </p:nvSpPr>
        <p:spPr>
          <a:xfrm>
            <a:off x="640080" y="4480560"/>
            <a:ext cx="356616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Start</a:t>
            </a:r>
            <a:endParaRPr lang="en-US" sz="2600" dirty="0"/>
          </a:p>
        </p:txBody>
      </p:sp>
      <p:sp>
        <p:nvSpPr>
          <p:cNvPr id="9" name="Text 5"/>
          <p:cNvSpPr/>
          <p:nvPr/>
        </p:nvSpPr>
        <p:spPr>
          <a:xfrm>
            <a:off x="640080" y="4983480"/>
            <a:ext cx="3429000" cy="100584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Allow camera, microphone and location once, then press one button.</a:t>
            </a:r>
            <a:endParaRPr lang="en-US" sz="1500" dirty="0"/>
          </a:p>
        </p:txBody>
      </p:sp>
      <p:sp>
        <p:nvSpPr>
          <p:cNvPr id="10" name="Shape 6"/>
          <p:cNvSpPr/>
          <p:nvPr/>
        </p:nvSpPr>
        <p:spPr>
          <a:xfrm>
            <a:off x="4389120" y="1508760"/>
            <a:ext cx="3566160" cy="2743200"/>
          </a:xfrm>
          <a:prstGeom prst="roundRect">
            <a:avLst>
              <a:gd name="adj" fmla="val 4000"/>
            </a:avLst>
          </a:prstGeom>
          <a:solidFill>
            <a:srgbClr val="FFFFFF"/>
          </a:solidFill>
          <a:ln w="12700">
            <a:solidFill>
              <a:srgbClr val="E3E3DC"/>
            </a:solidFill>
            <a:prstDash val="solid"/>
          </a:ln>
        </p:spPr>
      </p:sp>
      <p:pic>
        <p:nvPicPr>
          <p:cNvPr id="11" name="Image 1" descr="speech.png">    </p:cNvPr>
          <p:cNvPicPr>
            <a:picLocks noChangeAspect="1"/>
          </p:cNvPicPr>
          <p:nvPr/>
        </p:nvPicPr>
        <p:blipFill>
          <a:blip r:embed="rId2"/>
          <a:stretch>
            <a:fillRect/>
          </a:stretch>
        </p:blipFill>
        <p:spPr>
          <a:xfrm>
            <a:off x="4572000" y="2074620"/>
            <a:ext cx="3200400" cy="1611480"/>
          </a:xfrm>
          <a:prstGeom prst="rect">
            <a:avLst/>
          </a:prstGeom>
        </p:spPr>
      </p:pic>
      <p:sp>
        <p:nvSpPr>
          <p:cNvPr id="12" name="Text 7"/>
          <p:cNvSpPr/>
          <p:nvPr/>
        </p:nvSpPr>
        <p:spPr>
          <a:xfrm>
            <a:off x="4389120" y="4480560"/>
            <a:ext cx="356616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Check</a:t>
            </a:r>
            <a:endParaRPr lang="en-US" sz="2600" dirty="0"/>
          </a:p>
        </p:txBody>
      </p:sp>
      <p:sp>
        <p:nvSpPr>
          <p:cNvPr id="13" name="Text 8"/>
          <p:cNvSpPr/>
          <p:nvPr/>
        </p:nvSpPr>
        <p:spPr>
          <a:xfrm>
            <a:off x="4389120" y="4983480"/>
            <a:ext cx="3429000" cy="100584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Each check gives one plain instruction first. Speech: read a single sentence aloud.</a:t>
            </a:r>
            <a:endParaRPr lang="en-US" sz="1500" dirty="0"/>
          </a:p>
        </p:txBody>
      </p:sp>
      <p:sp>
        <p:nvSpPr>
          <p:cNvPr id="14" name="Shape 9"/>
          <p:cNvSpPr/>
          <p:nvPr/>
        </p:nvSpPr>
        <p:spPr>
          <a:xfrm>
            <a:off x="8138160" y="1508760"/>
            <a:ext cx="3566160" cy="2743200"/>
          </a:xfrm>
          <a:prstGeom prst="roundRect">
            <a:avLst>
              <a:gd name="adj" fmla="val 4000"/>
            </a:avLst>
          </a:prstGeom>
          <a:solidFill>
            <a:srgbClr val="FFFFFF"/>
          </a:solidFill>
          <a:ln w="12700">
            <a:solidFill>
              <a:srgbClr val="E3E3DC"/>
            </a:solidFill>
            <a:prstDash val="solid"/>
          </a:ln>
        </p:spPr>
      </p:sp>
      <p:pic>
        <p:nvPicPr>
          <p:cNvPr id="15" name="Image 2" descr="result.png">    </p:cNvPr>
          <p:cNvPicPr>
            <a:picLocks noChangeAspect="1"/>
          </p:cNvPicPr>
          <p:nvPr/>
        </p:nvPicPr>
        <p:blipFill>
          <a:blip r:embed="rId3"/>
          <a:stretch>
            <a:fillRect/>
          </a:stretch>
        </p:blipFill>
        <p:spPr>
          <a:xfrm>
            <a:off x="8321040" y="1984391"/>
            <a:ext cx="3200400" cy="1791937"/>
          </a:xfrm>
          <a:prstGeom prst="rect">
            <a:avLst/>
          </a:prstGeom>
        </p:spPr>
      </p:pic>
      <p:sp>
        <p:nvSpPr>
          <p:cNvPr id="16" name="Text 10"/>
          <p:cNvSpPr/>
          <p:nvPr/>
        </p:nvSpPr>
        <p:spPr>
          <a:xfrm>
            <a:off x="8138160" y="4480560"/>
            <a:ext cx="356616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Decide</a:t>
            </a:r>
            <a:endParaRPr lang="en-US" sz="2600" dirty="0"/>
          </a:p>
        </p:txBody>
      </p:sp>
      <p:sp>
        <p:nvSpPr>
          <p:cNvPr id="17" name="Text 11"/>
          <p:cNvSpPr/>
          <p:nvPr/>
        </p:nvSpPr>
        <p:spPr>
          <a:xfrm>
            <a:off x="8138160" y="4983480"/>
            <a:ext cx="3429000" cy="100584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A plain result and three things to do next. Shown here with a simulated high-risk run.</a:t>
            </a:r>
            <a:endParaRPr lang="en-US" sz="1500" dirty="0"/>
          </a:p>
        </p:txBody>
      </p:sp>
      <p:sp>
        <p:nvSpPr>
          <p:cNvPr id="18" name="Text 12"/>
          <p:cNvSpPr/>
          <p:nvPr/>
        </p:nvSpPr>
        <p:spPr>
          <a:xfrm>
            <a:off x="640080" y="5943600"/>
            <a:ext cx="8229600" cy="27432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Alerts can only ever reach the one demo phone number.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8 / 12</a:t>
            </a:r>
            <a:endParaRPr lang="en-US" sz="1100" dirty="0"/>
          </a:p>
        </p:txBody>
      </p:sp>
      <p:sp>
        <p:nvSpPr>
          <p:cNvPr id="5" name="Text 2"/>
          <p:cNvSpPr/>
          <p:nvPr/>
        </p:nvSpPr>
        <p:spPr>
          <a:xfrm>
            <a:off x="640080" y="502920"/>
            <a:ext cx="10881360" cy="82296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How it fits together</a:t>
            </a:r>
            <a:endParaRPr lang="en-US" sz="4000" dirty="0"/>
          </a:p>
        </p:txBody>
      </p:sp>
      <p:sp>
        <p:nvSpPr>
          <p:cNvPr id="6" name="Shape 3"/>
          <p:cNvSpPr/>
          <p:nvPr/>
        </p:nvSpPr>
        <p:spPr>
          <a:xfrm>
            <a:off x="640080" y="1600200"/>
            <a:ext cx="3200400" cy="3931920"/>
          </a:xfrm>
          <a:prstGeom prst="roundRect">
            <a:avLst>
              <a:gd name="adj" fmla="val 3429"/>
            </a:avLst>
          </a:prstGeom>
          <a:solidFill>
            <a:srgbClr val="EAF1F9"/>
          </a:solidFill>
          <a:ln w="12700">
            <a:solidFill>
              <a:srgbClr val="C7DAEE"/>
            </a:solidFill>
            <a:prstDash val="solid"/>
          </a:ln>
        </p:spPr>
      </p:sp>
      <p:sp>
        <p:nvSpPr>
          <p:cNvPr id="7" name="Text 4"/>
          <p:cNvSpPr/>
          <p:nvPr/>
        </p:nvSpPr>
        <p:spPr>
          <a:xfrm>
            <a:off x="914400" y="1801368"/>
            <a:ext cx="2651760" cy="457200"/>
          </a:xfrm>
          <a:prstGeom prst="rect">
            <a:avLst/>
          </a:prstGeom>
          <a:noFill/>
          <a:ln/>
        </p:spPr>
        <p:txBody>
          <a:bodyPr wrap="square" lIns="0" tIns="0" rIns="0" bIns="0" rtlCol="0" anchor="t"/>
          <a:lstStyle/>
          <a:p>
            <a:pPr indent="0" marL="0">
              <a:buNone/>
            </a:pPr>
            <a:r>
              <a:rPr lang="en-US" sz="2400" dirty="0">
                <a:solidFill>
                  <a:srgbClr val="12161B"/>
                </a:solidFill>
                <a:latin typeface="Newsreader" pitchFamily="34" charset="0"/>
                <a:ea typeface="Newsreader" pitchFamily="34" charset="-122"/>
                <a:cs typeface="Newsreader" pitchFamily="34" charset="-120"/>
              </a:rPr>
              <a:t>The browser</a:t>
            </a:r>
            <a:endParaRPr lang="en-US" sz="2400" dirty="0"/>
          </a:p>
        </p:txBody>
      </p:sp>
      <p:sp>
        <p:nvSpPr>
          <p:cNvPr id="8" name="Text 5"/>
          <p:cNvSpPr/>
          <p:nvPr/>
        </p:nvSpPr>
        <p:spPr>
          <a:xfrm>
            <a:off x="914400" y="2377440"/>
            <a:ext cx="2651760" cy="3017520"/>
          </a:xfrm>
          <a:prstGeom prst="rect">
            <a:avLst/>
          </a:prstGeom>
          <a:noFill/>
          <a:ln/>
        </p:spPr>
        <p:txBody>
          <a:bodyPr wrap="square" lIns="0" tIns="0" rIns="0" bIns="0" rtlCol="0" anchor="t"/>
          <a:lstStyle/>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React and TypeScript</a:t>
            </a:r>
            <a:endParaRPr lang="en-US" sz="1400" dirty="0"/>
          </a:p>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MediaPipe reads the face, eyes and arms right on the device</a:t>
            </a:r>
            <a:endParaRPr lang="en-US" sz="1400" dirty="0"/>
          </a:p>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The video never leaves the browser</a:t>
            </a:r>
            <a:endParaRPr lang="en-US" sz="1400" dirty="0"/>
          </a:p>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Plays the voice guide and shows what it says as captions</a:t>
            </a:r>
            <a:endParaRPr lang="en-US" sz="1400" dirty="0"/>
          </a:p>
        </p:txBody>
      </p:sp>
      <p:sp>
        <p:nvSpPr>
          <p:cNvPr id="9" name="Shape 6"/>
          <p:cNvSpPr/>
          <p:nvPr/>
        </p:nvSpPr>
        <p:spPr>
          <a:xfrm>
            <a:off x="4572000" y="1600200"/>
            <a:ext cx="3200400" cy="3931920"/>
          </a:xfrm>
          <a:prstGeom prst="roundRect">
            <a:avLst>
              <a:gd name="adj" fmla="val 3429"/>
            </a:avLst>
          </a:prstGeom>
          <a:solidFill>
            <a:srgbClr val="FFFFFF"/>
          </a:solidFill>
          <a:ln w="12700">
            <a:solidFill>
              <a:srgbClr val="E3E3DC"/>
            </a:solidFill>
            <a:prstDash val="solid"/>
          </a:ln>
        </p:spPr>
      </p:sp>
      <p:sp>
        <p:nvSpPr>
          <p:cNvPr id="10" name="Text 7"/>
          <p:cNvSpPr/>
          <p:nvPr/>
        </p:nvSpPr>
        <p:spPr>
          <a:xfrm>
            <a:off x="4846320" y="1801368"/>
            <a:ext cx="2651760" cy="457200"/>
          </a:xfrm>
          <a:prstGeom prst="rect">
            <a:avLst/>
          </a:prstGeom>
          <a:noFill/>
          <a:ln/>
        </p:spPr>
        <p:txBody>
          <a:bodyPr wrap="square" lIns="0" tIns="0" rIns="0" bIns="0" rtlCol="0" anchor="t"/>
          <a:lstStyle/>
          <a:p>
            <a:pPr indent="0" marL="0">
              <a:buNone/>
            </a:pPr>
            <a:r>
              <a:rPr lang="en-US" sz="2400" dirty="0">
                <a:solidFill>
                  <a:srgbClr val="12161B"/>
                </a:solidFill>
                <a:latin typeface="Newsreader" pitchFamily="34" charset="0"/>
                <a:ea typeface="Newsreader" pitchFamily="34" charset="-122"/>
                <a:cs typeface="Newsreader" pitchFamily="34" charset="-120"/>
              </a:rPr>
              <a:t>Our server</a:t>
            </a:r>
            <a:endParaRPr lang="en-US" sz="2400" dirty="0"/>
          </a:p>
        </p:txBody>
      </p:sp>
      <p:sp>
        <p:nvSpPr>
          <p:cNvPr id="11" name="Text 8"/>
          <p:cNvSpPr/>
          <p:nvPr/>
        </p:nvSpPr>
        <p:spPr>
          <a:xfrm>
            <a:off x="4846320" y="2377440"/>
            <a:ext cx="2651760" cy="3017520"/>
          </a:xfrm>
          <a:prstGeom prst="rect">
            <a:avLst/>
          </a:prstGeom>
          <a:noFill/>
          <a:ln/>
        </p:spPr>
        <p:txBody>
          <a:bodyPr wrap="square" lIns="0" tIns="0" rIns="0" bIns="0" rtlCol="0" anchor="t"/>
          <a:lstStyle/>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FastAPI (Python)</a:t>
            </a:r>
            <a:endParaRPr lang="en-US" sz="1400" dirty="0"/>
          </a:p>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Analyzes the speech clip: pitch, pauses, timing</a:t>
            </a:r>
            <a:endParaRPr lang="en-US" sz="1400" dirty="0"/>
          </a:p>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Combines every check into one score</a:t>
            </a:r>
            <a:endParaRPr lang="en-US" sz="1400" dirty="0"/>
          </a:p>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Holds the safety rule: it only ever texts the demo number</a:t>
            </a:r>
            <a:endParaRPr lang="en-US" sz="1400" dirty="0"/>
          </a:p>
        </p:txBody>
      </p:sp>
      <p:sp>
        <p:nvSpPr>
          <p:cNvPr id="12" name="Shape 9"/>
          <p:cNvSpPr/>
          <p:nvPr/>
        </p:nvSpPr>
        <p:spPr>
          <a:xfrm>
            <a:off x="8686800" y="1600200"/>
            <a:ext cx="2834640" cy="1828800"/>
          </a:xfrm>
          <a:prstGeom prst="roundRect">
            <a:avLst>
              <a:gd name="adj" fmla="val 6000"/>
            </a:avLst>
          </a:prstGeom>
          <a:solidFill>
            <a:srgbClr val="FFFFFF"/>
          </a:solidFill>
          <a:ln w="12700">
            <a:solidFill>
              <a:srgbClr val="E3E3DC"/>
            </a:solidFill>
            <a:prstDash val="solid"/>
          </a:ln>
        </p:spPr>
      </p:sp>
      <p:sp>
        <p:nvSpPr>
          <p:cNvPr id="13" name="Text 10"/>
          <p:cNvSpPr/>
          <p:nvPr/>
        </p:nvSpPr>
        <p:spPr>
          <a:xfrm>
            <a:off x="8961120" y="1801368"/>
            <a:ext cx="2286000" cy="457200"/>
          </a:xfrm>
          <a:prstGeom prst="rect">
            <a:avLst/>
          </a:prstGeom>
          <a:noFill/>
          <a:ln/>
        </p:spPr>
        <p:txBody>
          <a:bodyPr wrap="square" lIns="0" tIns="0" rIns="0" bIns="0" rtlCol="0" anchor="t"/>
          <a:lstStyle/>
          <a:p>
            <a:pPr indent="0" marL="0">
              <a:buNone/>
            </a:pPr>
            <a:r>
              <a:rPr lang="en-US" sz="2400" dirty="0">
                <a:solidFill>
                  <a:srgbClr val="12161B"/>
                </a:solidFill>
                <a:latin typeface="Newsreader" pitchFamily="34" charset="0"/>
                <a:ea typeface="Newsreader" pitchFamily="34" charset="-122"/>
                <a:cs typeface="Newsreader" pitchFamily="34" charset="-120"/>
              </a:rPr>
              <a:t>ElevenLabs</a:t>
            </a:r>
            <a:endParaRPr lang="en-US" sz="2400" dirty="0"/>
          </a:p>
        </p:txBody>
      </p:sp>
      <p:sp>
        <p:nvSpPr>
          <p:cNvPr id="14" name="Text 11"/>
          <p:cNvSpPr/>
          <p:nvPr/>
        </p:nvSpPr>
        <p:spPr>
          <a:xfrm>
            <a:off x="8961120" y="2377440"/>
            <a:ext cx="2286000" cy="914400"/>
          </a:xfrm>
          <a:prstGeom prst="rect">
            <a:avLst/>
          </a:prstGeom>
          <a:noFill/>
          <a:ln/>
        </p:spPr>
        <p:txBody>
          <a:bodyPr wrap="square" lIns="0" tIns="0" rIns="0" bIns="0" rtlCol="0" anchor="t"/>
          <a:lstStyle/>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The voice guide: it speaks to the patient and listens to them</a:t>
            </a:r>
            <a:endParaRPr lang="en-US" sz="1400" dirty="0"/>
          </a:p>
        </p:txBody>
      </p:sp>
      <p:sp>
        <p:nvSpPr>
          <p:cNvPr id="15" name="Shape 12"/>
          <p:cNvSpPr/>
          <p:nvPr/>
        </p:nvSpPr>
        <p:spPr>
          <a:xfrm>
            <a:off x="8686800" y="3703320"/>
            <a:ext cx="2834640" cy="1828800"/>
          </a:xfrm>
          <a:prstGeom prst="roundRect">
            <a:avLst>
              <a:gd name="adj" fmla="val 6000"/>
            </a:avLst>
          </a:prstGeom>
          <a:solidFill>
            <a:srgbClr val="FFFFFF"/>
          </a:solidFill>
          <a:ln w="12700">
            <a:solidFill>
              <a:srgbClr val="E3E3DC"/>
            </a:solidFill>
            <a:prstDash val="solid"/>
          </a:ln>
        </p:spPr>
      </p:sp>
      <p:sp>
        <p:nvSpPr>
          <p:cNvPr id="16" name="Text 13"/>
          <p:cNvSpPr/>
          <p:nvPr/>
        </p:nvSpPr>
        <p:spPr>
          <a:xfrm>
            <a:off x="8961120" y="3904488"/>
            <a:ext cx="2286000" cy="457200"/>
          </a:xfrm>
          <a:prstGeom prst="rect">
            <a:avLst/>
          </a:prstGeom>
          <a:noFill/>
          <a:ln/>
        </p:spPr>
        <p:txBody>
          <a:bodyPr wrap="square" lIns="0" tIns="0" rIns="0" bIns="0" rtlCol="0" anchor="t"/>
          <a:lstStyle/>
          <a:p>
            <a:pPr indent="0" marL="0">
              <a:buNone/>
            </a:pPr>
            <a:r>
              <a:rPr lang="en-US" sz="2400" dirty="0">
                <a:solidFill>
                  <a:srgbClr val="12161B"/>
                </a:solidFill>
                <a:latin typeface="Newsreader" pitchFamily="34" charset="0"/>
                <a:ea typeface="Newsreader" pitchFamily="34" charset="-122"/>
                <a:cs typeface="Newsreader" pitchFamily="34" charset="-120"/>
              </a:rPr>
              <a:t>Twilio</a:t>
            </a:r>
            <a:endParaRPr lang="en-US" sz="2400" dirty="0"/>
          </a:p>
        </p:txBody>
      </p:sp>
      <p:sp>
        <p:nvSpPr>
          <p:cNvPr id="17" name="Text 14"/>
          <p:cNvSpPr/>
          <p:nvPr/>
        </p:nvSpPr>
        <p:spPr>
          <a:xfrm>
            <a:off x="8961120" y="4480560"/>
            <a:ext cx="2286000" cy="914400"/>
          </a:xfrm>
          <a:prstGeom prst="rect">
            <a:avLst/>
          </a:prstGeom>
          <a:noFill/>
          <a:ln/>
        </p:spPr>
        <p:txBody>
          <a:bodyPr wrap="square" lIns="0" tIns="0" rIns="0" bIns="0" rtlCol="0" anchor="t"/>
          <a:lstStyle/>
          <a:p>
            <a:pPr indent="0" marL="0">
              <a:spcAft>
                <a:spcPts val="600"/>
              </a:spcAft>
              <a:buNone/>
            </a:pPr>
            <a:r>
              <a:rPr lang="en-US" sz="1400" dirty="0">
                <a:solidFill>
                  <a:srgbClr val="4A5561"/>
                </a:solidFill>
                <a:latin typeface="Avenir Next" pitchFamily="34" charset="0"/>
                <a:ea typeface="Avenir Next" pitchFamily="34" charset="-122"/>
                <a:cs typeface="Avenir Next" pitchFamily="34" charset="-120"/>
              </a:rPr>
              <a:t>Sends the text message with your location to the emergency contact</a:t>
            </a:r>
            <a:endParaRPr lang="en-US" sz="1400" dirty="0"/>
          </a:p>
        </p:txBody>
      </p:sp>
      <p:sp>
        <p:nvSpPr>
          <p:cNvPr id="18" name="Shape 15"/>
          <p:cNvSpPr/>
          <p:nvPr/>
        </p:nvSpPr>
        <p:spPr>
          <a:xfrm>
            <a:off x="3840480" y="3566160"/>
            <a:ext cx="731520" cy="0"/>
          </a:xfrm>
          <a:prstGeom prst="line">
            <a:avLst/>
          </a:prstGeom>
          <a:noFill/>
          <a:ln w="19050">
            <a:solidFill>
              <a:srgbClr val="6B7683"/>
            </a:solidFill>
            <a:prstDash val="solid"/>
            <a:headEnd type="triangle"/>
            <a:tailEnd type="triangle"/>
          </a:ln>
        </p:spPr>
      </p:sp>
      <p:sp>
        <p:nvSpPr>
          <p:cNvPr id="19" name="Shape 16"/>
          <p:cNvSpPr/>
          <p:nvPr/>
        </p:nvSpPr>
        <p:spPr>
          <a:xfrm>
            <a:off x="7772400" y="2514600"/>
            <a:ext cx="914400" cy="0"/>
          </a:xfrm>
          <a:prstGeom prst="line">
            <a:avLst/>
          </a:prstGeom>
          <a:noFill/>
          <a:ln w="19050">
            <a:solidFill>
              <a:srgbClr val="6B7683"/>
            </a:solidFill>
            <a:prstDash val="solid"/>
            <a:headEnd type="triangle"/>
            <a:tailEnd type="triangle"/>
          </a:ln>
        </p:spPr>
      </p:sp>
      <p:sp>
        <p:nvSpPr>
          <p:cNvPr id="20" name="Shape 17"/>
          <p:cNvSpPr/>
          <p:nvPr/>
        </p:nvSpPr>
        <p:spPr>
          <a:xfrm>
            <a:off x="7772400" y="4617720"/>
            <a:ext cx="914400" cy="0"/>
          </a:xfrm>
          <a:prstGeom prst="line">
            <a:avLst/>
          </a:prstGeom>
          <a:noFill/>
          <a:ln w="19050">
            <a:solidFill>
              <a:srgbClr val="6B7683"/>
            </a:solidFill>
            <a:prstDash val="solid"/>
            <a:tailEnd type="triangle"/>
          </a:ln>
        </p:spPr>
      </p:sp>
      <p:sp>
        <p:nvSpPr>
          <p:cNvPr id="21" name="Text 18"/>
          <p:cNvSpPr/>
          <p:nvPr/>
        </p:nvSpPr>
        <p:spPr>
          <a:xfrm>
            <a:off x="640080" y="5760720"/>
            <a:ext cx="10881360" cy="365760"/>
          </a:xfrm>
          <a:prstGeom prst="rect">
            <a:avLst/>
          </a:prstGeom>
          <a:noFill/>
          <a:ln/>
        </p:spPr>
        <p:txBody>
          <a:bodyPr wrap="square" lIns="0" tIns="0" rIns="0" bIns="0" rtlCol="0" anchor="ctr"/>
          <a:lstStyle/>
          <a:p>
            <a:pPr indent="0" marL="0">
              <a:buNone/>
            </a:pPr>
            <a:r>
              <a:rPr lang="en-US" sz="1400" dirty="0">
                <a:solidFill>
                  <a:srgbClr val="6B7683"/>
                </a:solidFill>
                <a:latin typeface="Avenir Next" pitchFamily="34" charset="0"/>
                <a:ea typeface="Avenir Next" pitchFamily="34" charset="-122"/>
                <a:cs typeface="Avenir Next" pitchFamily="34" charset="-120"/>
              </a:rPr>
              <a:t>Camera analysis stays in the browser. Only the short speech clip goes to our server.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9 / 12</a:t>
            </a:r>
            <a:endParaRPr lang="en-US" sz="1100" dirty="0"/>
          </a:p>
        </p:txBody>
      </p:sp>
      <p:sp>
        <p:nvSpPr>
          <p:cNvPr id="5" name="Text 2"/>
          <p:cNvSpPr/>
          <p:nvPr/>
        </p:nvSpPr>
        <p:spPr>
          <a:xfrm>
            <a:off x="640080" y="502920"/>
            <a:ext cx="10881360" cy="82296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How we use ElevenLabs</a:t>
            </a:r>
            <a:endParaRPr lang="en-US" sz="4000" dirty="0"/>
          </a:p>
        </p:txBody>
      </p:sp>
      <p:sp>
        <p:nvSpPr>
          <p:cNvPr id="6" name="Shape 3"/>
          <p:cNvSpPr/>
          <p:nvPr/>
        </p:nvSpPr>
        <p:spPr>
          <a:xfrm>
            <a:off x="822960" y="1600200"/>
            <a:ext cx="0" cy="4206240"/>
          </a:xfrm>
          <a:prstGeom prst="line">
            <a:avLst/>
          </a:prstGeom>
          <a:noFill/>
          <a:ln w="12700">
            <a:solidFill>
              <a:srgbClr val="C9C9C0"/>
            </a:solidFill>
            <a:prstDash val="solid"/>
          </a:ln>
        </p:spPr>
      </p:sp>
      <p:sp>
        <p:nvSpPr>
          <p:cNvPr id="7" name="Text 4"/>
          <p:cNvSpPr/>
          <p:nvPr/>
        </p:nvSpPr>
        <p:spPr>
          <a:xfrm>
            <a:off x="1143000" y="1600200"/>
            <a:ext cx="576072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A voice that guides</a:t>
            </a:r>
            <a:endParaRPr lang="en-US" sz="2600" dirty="0"/>
          </a:p>
        </p:txBody>
      </p:sp>
      <p:sp>
        <p:nvSpPr>
          <p:cNvPr id="8" name="Text 5"/>
          <p:cNvSpPr/>
          <p:nvPr/>
        </p:nvSpPr>
        <p:spPr>
          <a:xfrm>
            <a:off x="1143000" y="2075688"/>
            <a:ext cx="5760720" cy="91440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A conversational agent walks the patient through each step in plain words, and can be interrupted. What it says also appears as captions on screen.</a:t>
            </a:r>
            <a:endParaRPr lang="en-US" sz="1500" dirty="0"/>
          </a:p>
        </p:txBody>
      </p:sp>
      <p:sp>
        <p:nvSpPr>
          <p:cNvPr id="9" name="Text 6"/>
          <p:cNvSpPr/>
          <p:nvPr/>
        </p:nvSpPr>
        <p:spPr>
          <a:xfrm>
            <a:off x="1143000" y="3063240"/>
            <a:ext cx="576072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It can act, not just talk</a:t>
            </a:r>
            <a:endParaRPr lang="en-US" sz="2600" dirty="0"/>
          </a:p>
        </p:txBody>
      </p:sp>
      <p:sp>
        <p:nvSpPr>
          <p:cNvPr id="10" name="Text 7"/>
          <p:cNvSpPr/>
          <p:nvPr/>
        </p:nvSpPr>
        <p:spPr>
          <a:xfrm>
            <a:off x="1143000" y="3538728"/>
            <a:ext cx="5760720" cy="91440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It has a small set of tools: start a check, save when symptoms began, look at the current step, or start the emergency countdown when someone asks for help.</a:t>
            </a:r>
            <a:endParaRPr lang="en-US" sz="1500" dirty="0"/>
          </a:p>
        </p:txBody>
      </p:sp>
      <p:sp>
        <p:nvSpPr>
          <p:cNvPr id="11" name="Text 8"/>
          <p:cNvSpPr/>
          <p:nvPr/>
        </p:nvSpPr>
        <p:spPr>
          <a:xfrm>
            <a:off x="1143000" y="4526280"/>
            <a:ext cx="5760720" cy="457200"/>
          </a:xfrm>
          <a:prstGeom prst="rect">
            <a:avLst/>
          </a:prstGeom>
          <a:noFill/>
          <a:ln/>
        </p:spPr>
        <p:txBody>
          <a:bodyPr wrap="square" lIns="0" tIns="0" rIns="0" bIns="0" rtlCol="0" anchor="t"/>
          <a:lstStyle/>
          <a:p>
            <a:pPr indent="0" marL="0">
              <a:buNone/>
            </a:pPr>
            <a:r>
              <a:rPr lang="en-US" sz="2600" dirty="0">
                <a:solidFill>
                  <a:srgbClr val="12161B"/>
                </a:solidFill>
                <a:latin typeface="Newsreader" pitchFamily="34" charset="0"/>
                <a:ea typeface="Newsreader" pitchFamily="34" charset="-122"/>
                <a:cs typeface="Newsreader" pitchFamily="34" charset="-120"/>
              </a:rPr>
              <a:t>The app stays in charge</a:t>
            </a:r>
            <a:endParaRPr lang="en-US" sz="2600" dirty="0"/>
          </a:p>
        </p:txBody>
      </p:sp>
      <p:sp>
        <p:nvSpPr>
          <p:cNvPr id="12" name="Text 9"/>
          <p:cNvSpPr/>
          <p:nvPr/>
        </p:nvSpPr>
        <p:spPr>
          <a:xfrm>
            <a:off x="1143000" y="5001768"/>
            <a:ext cx="5760720" cy="914400"/>
          </a:xfrm>
          <a:prstGeom prst="rect">
            <a:avLst/>
          </a:prstGeom>
          <a:noFill/>
          <a:ln/>
        </p:spPr>
        <p:txBody>
          <a:bodyPr wrap="square" lIns="0" tIns="0" rIns="0" bIns="0" rtlCol="0" anchor="t"/>
          <a:lstStyle/>
          <a:p>
            <a:pPr indent="0" marL="0">
              <a:buNone/>
            </a:pPr>
            <a:r>
              <a:rPr lang="en-US" sz="1500" dirty="0">
                <a:solidFill>
                  <a:srgbClr val="4A5561"/>
                </a:solidFill>
                <a:latin typeface="Avenir Next" pitchFamily="34" charset="0"/>
                <a:ea typeface="Avenir Next" pitchFamily="34" charset="-122"/>
                <a:cs typeface="Avenir Next" pitchFamily="34" charset="-120"/>
              </a:rPr>
              <a:t>The website tells the agent which step is active. The agent never gives a score or a diagnosis, and it goes quiet while the speech check records.</a:t>
            </a:r>
            <a:endParaRPr lang="en-US" sz="1500" dirty="0"/>
          </a:p>
        </p:txBody>
      </p:sp>
      <p:sp>
        <p:nvSpPr>
          <p:cNvPr id="13" name="Shape 10"/>
          <p:cNvSpPr/>
          <p:nvPr/>
        </p:nvSpPr>
        <p:spPr>
          <a:xfrm>
            <a:off x="7498080" y="1600200"/>
            <a:ext cx="4023360" cy="4206240"/>
          </a:xfrm>
          <a:prstGeom prst="roundRect">
            <a:avLst>
              <a:gd name="adj" fmla="val 2727"/>
            </a:avLst>
          </a:prstGeom>
          <a:solidFill>
            <a:srgbClr val="EAF1F9"/>
          </a:solidFill>
          <a:ln w="12700">
            <a:solidFill>
              <a:srgbClr val="C7DAEE"/>
            </a:solidFill>
            <a:prstDash val="solid"/>
          </a:ln>
        </p:spPr>
      </p:sp>
      <p:sp>
        <p:nvSpPr>
          <p:cNvPr id="14" name="Text 11"/>
          <p:cNvSpPr/>
          <p:nvPr/>
        </p:nvSpPr>
        <p:spPr>
          <a:xfrm>
            <a:off x="7772400" y="1810512"/>
            <a:ext cx="3474720" cy="274320"/>
          </a:xfrm>
          <a:prstGeom prst="rect">
            <a:avLst/>
          </a:prstGeom>
          <a:noFill/>
          <a:ln/>
        </p:spPr>
        <p:txBody>
          <a:bodyPr wrap="square" lIns="0" tIns="0" rIns="0" bIns="0" rtlCol="0" anchor="ctr"/>
          <a:lstStyle/>
          <a:p>
            <a:pPr indent="0" marL="0">
              <a:buNone/>
            </a:pPr>
            <a:r>
              <a:rPr lang="en-US" sz="1200" b="1" spc="200" kern="0" dirty="0">
                <a:solidFill>
                  <a:srgbClr val="0B5CAB"/>
                </a:solidFill>
                <a:latin typeface="Avenir Next" pitchFamily="34" charset="0"/>
                <a:ea typeface="Avenir Next" pitchFamily="34" charset="-122"/>
                <a:cs typeface="Avenir Next" pitchFamily="34" charset="-120"/>
              </a:rPr>
              <a:t>ONE STEP, START TO FINISH</a:t>
            </a:r>
            <a:endParaRPr lang="en-US" sz="1200" dirty="0"/>
          </a:p>
        </p:txBody>
      </p:sp>
      <p:sp>
        <p:nvSpPr>
          <p:cNvPr id="15" name="Shape 12"/>
          <p:cNvSpPr/>
          <p:nvPr/>
        </p:nvSpPr>
        <p:spPr>
          <a:xfrm>
            <a:off x="7772400" y="2295144"/>
            <a:ext cx="365760" cy="365760"/>
          </a:xfrm>
          <a:prstGeom prst="ellipse">
            <a:avLst/>
          </a:prstGeom>
          <a:solidFill>
            <a:srgbClr val="0B5CAB"/>
          </a:solidFill>
          <a:ln w="12700">
            <a:solidFill>
              <a:srgbClr val="0B5CAB"/>
            </a:solidFill>
            <a:prstDash val="solid"/>
          </a:ln>
        </p:spPr>
      </p:sp>
      <p:sp>
        <p:nvSpPr>
          <p:cNvPr id="16" name="Text 13"/>
          <p:cNvSpPr/>
          <p:nvPr/>
        </p:nvSpPr>
        <p:spPr>
          <a:xfrm>
            <a:off x="7772400" y="22951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venir Next" pitchFamily="34" charset="0"/>
                <a:ea typeface="Avenir Next" pitchFamily="34" charset="-122"/>
                <a:cs typeface="Avenir Next" pitchFamily="34" charset="-120"/>
              </a:rPr>
              <a:t>1</a:t>
            </a:r>
            <a:endParaRPr lang="en-US" sz="1300" dirty="0"/>
          </a:p>
        </p:txBody>
      </p:sp>
      <p:sp>
        <p:nvSpPr>
          <p:cNvPr id="17" name="Text 14"/>
          <p:cNvSpPr/>
          <p:nvPr/>
        </p:nvSpPr>
        <p:spPr>
          <a:xfrm>
            <a:off x="8321040" y="2240280"/>
            <a:ext cx="3017520" cy="502920"/>
          </a:xfrm>
          <a:prstGeom prst="rect">
            <a:avLst/>
          </a:prstGeom>
          <a:noFill/>
          <a:ln/>
        </p:spPr>
        <p:txBody>
          <a:bodyPr wrap="square" lIns="0" tIns="0" rIns="0" bIns="0" rtlCol="0" anchor="ctr"/>
          <a:lstStyle/>
          <a:p>
            <a:pPr indent="0" marL="0">
              <a:buNone/>
            </a:pPr>
            <a:r>
              <a:rPr lang="en-US" sz="1400" dirty="0">
                <a:solidFill>
                  <a:srgbClr val="12161B"/>
                </a:solidFill>
                <a:latin typeface="Avenir Next" pitchFamily="34" charset="0"/>
                <a:ea typeface="Avenir Next" pitchFamily="34" charset="-122"/>
                <a:cs typeface="Avenir Next" pitchFamily="34" charset="-120"/>
              </a:rPr>
              <a:t>The website says: "now on the face step"</a:t>
            </a:r>
            <a:endParaRPr lang="en-US" sz="1400" dirty="0"/>
          </a:p>
        </p:txBody>
      </p:sp>
      <p:sp>
        <p:nvSpPr>
          <p:cNvPr id="18" name="Shape 15"/>
          <p:cNvSpPr/>
          <p:nvPr/>
        </p:nvSpPr>
        <p:spPr>
          <a:xfrm>
            <a:off x="7772400" y="3026664"/>
            <a:ext cx="365760" cy="365760"/>
          </a:xfrm>
          <a:prstGeom prst="ellipse">
            <a:avLst/>
          </a:prstGeom>
          <a:solidFill>
            <a:srgbClr val="0B5CAB"/>
          </a:solidFill>
          <a:ln w="12700">
            <a:solidFill>
              <a:srgbClr val="0B5CAB"/>
            </a:solidFill>
            <a:prstDash val="solid"/>
          </a:ln>
        </p:spPr>
      </p:sp>
      <p:sp>
        <p:nvSpPr>
          <p:cNvPr id="19" name="Text 16"/>
          <p:cNvSpPr/>
          <p:nvPr/>
        </p:nvSpPr>
        <p:spPr>
          <a:xfrm>
            <a:off x="7772400" y="30266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venir Next" pitchFamily="34" charset="0"/>
                <a:ea typeface="Avenir Next" pitchFamily="34" charset="-122"/>
                <a:cs typeface="Avenir Next" pitchFamily="34" charset="-120"/>
              </a:rPr>
              <a:t>2</a:t>
            </a:r>
            <a:endParaRPr lang="en-US" sz="1300" dirty="0"/>
          </a:p>
        </p:txBody>
      </p:sp>
      <p:sp>
        <p:nvSpPr>
          <p:cNvPr id="20" name="Text 17"/>
          <p:cNvSpPr/>
          <p:nvPr/>
        </p:nvSpPr>
        <p:spPr>
          <a:xfrm>
            <a:off x="8321040" y="2971800"/>
            <a:ext cx="3017520" cy="502920"/>
          </a:xfrm>
          <a:prstGeom prst="rect">
            <a:avLst/>
          </a:prstGeom>
          <a:noFill/>
          <a:ln/>
        </p:spPr>
        <p:txBody>
          <a:bodyPr wrap="square" lIns="0" tIns="0" rIns="0" bIns="0" rtlCol="0" anchor="ctr"/>
          <a:lstStyle/>
          <a:p>
            <a:pPr indent="0" marL="0">
              <a:buNone/>
            </a:pPr>
            <a:r>
              <a:rPr lang="en-US" sz="1400" dirty="0">
                <a:solidFill>
                  <a:srgbClr val="12161B"/>
                </a:solidFill>
                <a:latin typeface="Avenir Next" pitchFamily="34" charset="0"/>
                <a:ea typeface="Avenir Next" pitchFamily="34" charset="-122"/>
                <a:cs typeface="Avenir Next" pitchFamily="34" charset="-120"/>
              </a:rPr>
              <a:t>The agent tells the patient what to do</a:t>
            </a:r>
            <a:endParaRPr lang="en-US" sz="1400" dirty="0"/>
          </a:p>
        </p:txBody>
      </p:sp>
      <p:sp>
        <p:nvSpPr>
          <p:cNvPr id="21" name="Shape 18"/>
          <p:cNvSpPr/>
          <p:nvPr/>
        </p:nvSpPr>
        <p:spPr>
          <a:xfrm>
            <a:off x="7772400" y="3758184"/>
            <a:ext cx="365760" cy="365760"/>
          </a:xfrm>
          <a:prstGeom prst="ellipse">
            <a:avLst/>
          </a:prstGeom>
          <a:solidFill>
            <a:srgbClr val="0B5CAB"/>
          </a:solidFill>
          <a:ln w="12700">
            <a:solidFill>
              <a:srgbClr val="0B5CAB"/>
            </a:solidFill>
            <a:prstDash val="solid"/>
          </a:ln>
        </p:spPr>
      </p:sp>
      <p:sp>
        <p:nvSpPr>
          <p:cNvPr id="22" name="Text 19"/>
          <p:cNvSpPr/>
          <p:nvPr/>
        </p:nvSpPr>
        <p:spPr>
          <a:xfrm>
            <a:off x="7772400" y="37581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venir Next" pitchFamily="34" charset="0"/>
                <a:ea typeface="Avenir Next" pitchFamily="34" charset="-122"/>
                <a:cs typeface="Avenir Next" pitchFamily="34" charset="-120"/>
              </a:rPr>
              <a:t>3</a:t>
            </a:r>
            <a:endParaRPr lang="en-US" sz="1300" dirty="0"/>
          </a:p>
        </p:txBody>
      </p:sp>
      <p:sp>
        <p:nvSpPr>
          <p:cNvPr id="23" name="Text 20"/>
          <p:cNvSpPr/>
          <p:nvPr/>
        </p:nvSpPr>
        <p:spPr>
          <a:xfrm>
            <a:off x="8321040" y="3703320"/>
            <a:ext cx="3017520" cy="502920"/>
          </a:xfrm>
          <a:prstGeom prst="rect">
            <a:avLst/>
          </a:prstGeom>
          <a:noFill/>
          <a:ln/>
        </p:spPr>
        <p:txBody>
          <a:bodyPr wrap="square" lIns="0" tIns="0" rIns="0" bIns="0" rtlCol="0" anchor="ctr"/>
          <a:lstStyle/>
          <a:p>
            <a:pPr indent="0" marL="0">
              <a:buNone/>
            </a:pPr>
            <a:r>
              <a:rPr lang="en-US" sz="1400" dirty="0">
                <a:solidFill>
                  <a:srgbClr val="12161B"/>
                </a:solidFill>
                <a:latin typeface="Avenir Next" pitchFamily="34" charset="0"/>
                <a:ea typeface="Avenir Next" pitchFamily="34" charset="-122"/>
                <a:cs typeface="Avenir Next" pitchFamily="34" charset="-120"/>
              </a:rPr>
              <a:t>The agent calls  start_face_test</a:t>
            </a:r>
            <a:endParaRPr lang="en-US" sz="1400" dirty="0"/>
          </a:p>
        </p:txBody>
      </p:sp>
      <p:sp>
        <p:nvSpPr>
          <p:cNvPr id="24" name="Shape 21"/>
          <p:cNvSpPr/>
          <p:nvPr/>
        </p:nvSpPr>
        <p:spPr>
          <a:xfrm>
            <a:off x="7772400" y="4489704"/>
            <a:ext cx="365760" cy="365760"/>
          </a:xfrm>
          <a:prstGeom prst="ellipse">
            <a:avLst/>
          </a:prstGeom>
          <a:solidFill>
            <a:srgbClr val="0B5CAB"/>
          </a:solidFill>
          <a:ln w="12700">
            <a:solidFill>
              <a:srgbClr val="0B5CAB"/>
            </a:solidFill>
            <a:prstDash val="solid"/>
          </a:ln>
        </p:spPr>
      </p:sp>
      <p:sp>
        <p:nvSpPr>
          <p:cNvPr id="25" name="Text 22"/>
          <p:cNvSpPr/>
          <p:nvPr/>
        </p:nvSpPr>
        <p:spPr>
          <a:xfrm>
            <a:off x="7772400" y="4489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venir Next" pitchFamily="34" charset="0"/>
                <a:ea typeface="Avenir Next" pitchFamily="34" charset="-122"/>
                <a:cs typeface="Avenir Next" pitchFamily="34" charset="-120"/>
              </a:rPr>
              <a:t>4</a:t>
            </a:r>
            <a:endParaRPr lang="en-US" sz="1300" dirty="0"/>
          </a:p>
        </p:txBody>
      </p:sp>
      <p:sp>
        <p:nvSpPr>
          <p:cNvPr id="26" name="Text 23"/>
          <p:cNvSpPr/>
          <p:nvPr/>
        </p:nvSpPr>
        <p:spPr>
          <a:xfrm>
            <a:off x="8321040" y="4434840"/>
            <a:ext cx="3017520" cy="502920"/>
          </a:xfrm>
          <a:prstGeom prst="rect">
            <a:avLst/>
          </a:prstGeom>
          <a:noFill/>
          <a:ln/>
        </p:spPr>
        <p:txBody>
          <a:bodyPr wrap="square" lIns="0" tIns="0" rIns="0" bIns="0" rtlCol="0" anchor="ctr"/>
          <a:lstStyle/>
          <a:p>
            <a:pPr indent="0" marL="0">
              <a:buNone/>
            </a:pPr>
            <a:r>
              <a:rPr lang="en-US" sz="1400" dirty="0">
                <a:solidFill>
                  <a:srgbClr val="12161B"/>
                </a:solidFill>
                <a:latin typeface="Avenir Next" pitchFamily="34" charset="0"/>
                <a:ea typeface="Avenir Next" pitchFamily="34" charset="-122"/>
                <a:cs typeface="Avenir Next" pitchFamily="34" charset="-120"/>
              </a:rPr>
              <a:t>The website runs the check and reports back</a:t>
            </a:r>
            <a:endParaRPr lang="en-US" sz="1400" dirty="0"/>
          </a:p>
        </p:txBody>
      </p:sp>
      <p:sp>
        <p:nvSpPr>
          <p:cNvPr id="27" name="Text 24"/>
          <p:cNvSpPr/>
          <p:nvPr/>
        </p:nvSpPr>
        <p:spPr>
          <a:xfrm>
            <a:off x="7772400" y="5257800"/>
            <a:ext cx="3520440" cy="457200"/>
          </a:xfrm>
          <a:prstGeom prst="rect">
            <a:avLst/>
          </a:prstGeom>
          <a:noFill/>
          <a:ln/>
        </p:spPr>
        <p:txBody>
          <a:bodyPr wrap="square" lIns="0" tIns="0" rIns="0" bIns="0" rtlCol="0" anchor="t"/>
          <a:lstStyle/>
          <a:p>
            <a:pPr indent="0" marL="0">
              <a:buNone/>
            </a:pPr>
            <a:r>
              <a:rPr lang="en-US" sz="1200" dirty="0">
                <a:solidFill>
                  <a:srgbClr val="4A5561"/>
                </a:solidFill>
                <a:latin typeface="Avenir Next" pitchFamily="34" charset="0"/>
                <a:ea typeface="Avenir Next" pitchFamily="34" charset="-122"/>
                <a:cs typeface="Avenir Next" pitchFamily="34" charset="-120"/>
              </a:rPr>
              <a:t>8 tools: three checks, speech, save start time, check status, start and cancel emergency.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10 / 12</a:t>
            </a:r>
            <a:endParaRPr lang="en-US" sz="1100" dirty="0"/>
          </a:p>
        </p:txBody>
      </p:sp>
      <p:sp>
        <p:nvSpPr>
          <p:cNvPr id="5" name="Text 2"/>
          <p:cNvSpPr/>
          <p:nvPr/>
        </p:nvSpPr>
        <p:spPr>
          <a:xfrm>
            <a:off x="640080" y="502920"/>
            <a:ext cx="10881360" cy="82296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Next: a second opinion from Gemini</a:t>
            </a:r>
            <a:endParaRPr lang="en-US" sz="4000" dirty="0"/>
          </a:p>
        </p:txBody>
      </p:sp>
      <p:sp>
        <p:nvSpPr>
          <p:cNvPr id="6" name="Shape 3"/>
          <p:cNvSpPr/>
          <p:nvPr/>
        </p:nvSpPr>
        <p:spPr>
          <a:xfrm>
            <a:off x="640080" y="1417320"/>
            <a:ext cx="2880360" cy="384048"/>
          </a:xfrm>
          <a:prstGeom prst="roundRect">
            <a:avLst>
              <a:gd name="adj" fmla="val 50000"/>
            </a:avLst>
          </a:prstGeom>
          <a:solidFill>
            <a:srgbClr val="FDF3E0"/>
          </a:solidFill>
          <a:ln w="12700">
            <a:solidFill>
              <a:srgbClr val="8A5A00"/>
            </a:solidFill>
            <a:prstDash val="solid"/>
          </a:ln>
        </p:spPr>
      </p:sp>
      <p:sp>
        <p:nvSpPr>
          <p:cNvPr id="7" name="Text 4"/>
          <p:cNvSpPr/>
          <p:nvPr/>
        </p:nvSpPr>
        <p:spPr>
          <a:xfrm>
            <a:off x="640080" y="1417320"/>
            <a:ext cx="2880360" cy="384048"/>
          </a:xfrm>
          <a:prstGeom prst="rect">
            <a:avLst/>
          </a:prstGeom>
          <a:noFill/>
          <a:ln/>
        </p:spPr>
        <p:txBody>
          <a:bodyPr wrap="square" lIns="0" tIns="0" rIns="0" bIns="0" rtlCol="0" anchor="ctr"/>
          <a:lstStyle/>
          <a:p>
            <a:pPr algn="ctr" indent="0" marL="0">
              <a:buNone/>
            </a:pPr>
            <a:r>
              <a:rPr lang="en-US" sz="1200" b="1" spc="100" kern="0" dirty="0">
                <a:solidFill>
                  <a:srgbClr val="8A5A00"/>
                </a:solidFill>
                <a:latin typeface="Avenir Next" pitchFamily="34" charset="0"/>
                <a:ea typeface="Avenir Next" pitchFamily="34" charset="-122"/>
                <a:cs typeface="Avenir Next" pitchFamily="34" charset="-120"/>
              </a:rPr>
              <a:t>PLANNED. NOT BUILT YET.</a:t>
            </a:r>
            <a:endParaRPr lang="en-US" sz="1200" dirty="0"/>
          </a:p>
        </p:txBody>
      </p:sp>
      <p:sp>
        <p:nvSpPr>
          <p:cNvPr id="8" name="Text 5"/>
          <p:cNvSpPr/>
          <p:nvPr/>
        </p:nvSpPr>
        <p:spPr>
          <a:xfrm>
            <a:off x="640080" y="2057400"/>
            <a:ext cx="10424160" cy="914400"/>
          </a:xfrm>
          <a:prstGeom prst="rect">
            <a:avLst/>
          </a:prstGeom>
          <a:noFill/>
          <a:ln/>
        </p:spPr>
        <p:txBody>
          <a:bodyPr wrap="square" lIns="0" tIns="0" rIns="0" bIns="0" rtlCol="0" anchor="t"/>
          <a:lstStyle/>
          <a:p>
            <a:pPr indent="0" marL="0">
              <a:buNone/>
            </a:pPr>
            <a:r>
              <a:rPr lang="en-US" sz="2400" dirty="0">
                <a:solidFill>
                  <a:srgbClr val="12161B"/>
                </a:solidFill>
                <a:latin typeface="Newsreader" pitchFamily="34" charset="0"/>
                <a:ea typeface="Newsreader" pitchFamily="34" charset="-122"/>
                <a:cs typeface="Newsreader" pitchFamily="34" charset="-120"/>
              </a:rPr>
              <a:t>Our checks measure the face and arms with landmark math. Gemini would look at the same moments as a picture, and give an independent reading.</a:t>
            </a:r>
            <a:endParaRPr lang="en-US" sz="2400" dirty="0"/>
          </a:p>
        </p:txBody>
      </p:sp>
      <p:sp>
        <p:nvSpPr>
          <p:cNvPr id="9" name="Shape 6"/>
          <p:cNvSpPr/>
          <p:nvPr/>
        </p:nvSpPr>
        <p:spPr>
          <a:xfrm>
            <a:off x="640080" y="3337560"/>
            <a:ext cx="3566160" cy="2606040"/>
          </a:xfrm>
          <a:prstGeom prst="roundRect">
            <a:avLst>
              <a:gd name="adj" fmla="val 4211"/>
            </a:avLst>
          </a:prstGeom>
          <a:solidFill>
            <a:srgbClr val="FFFFFF"/>
          </a:solidFill>
          <a:ln w="12700">
            <a:solidFill>
              <a:srgbClr val="E3E3DC"/>
            </a:solidFill>
            <a:prstDash val="solid"/>
          </a:ln>
        </p:spPr>
      </p:sp>
      <p:sp>
        <p:nvSpPr>
          <p:cNvPr id="10" name="Shape 7"/>
          <p:cNvSpPr/>
          <p:nvPr/>
        </p:nvSpPr>
        <p:spPr>
          <a:xfrm>
            <a:off x="914400" y="3611880"/>
            <a:ext cx="411480" cy="411480"/>
          </a:xfrm>
          <a:prstGeom prst="ellipse">
            <a:avLst/>
          </a:prstGeom>
          <a:solidFill>
            <a:srgbClr val="EAF1F9"/>
          </a:solidFill>
          <a:ln w="12700">
            <a:solidFill>
              <a:srgbClr val="EAF1F9"/>
            </a:solidFill>
            <a:prstDash val="solid"/>
          </a:ln>
        </p:spPr>
      </p:sp>
      <p:sp>
        <p:nvSpPr>
          <p:cNvPr id="11" name="Text 8"/>
          <p:cNvSpPr/>
          <p:nvPr/>
        </p:nvSpPr>
        <p:spPr>
          <a:xfrm>
            <a:off x="914400" y="3611880"/>
            <a:ext cx="411480" cy="411480"/>
          </a:xfrm>
          <a:prstGeom prst="rect">
            <a:avLst/>
          </a:prstGeom>
          <a:noFill/>
          <a:ln/>
        </p:spPr>
        <p:txBody>
          <a:bodyPr wrap="square" lIns="0" tIns="0" rIns="0" bIns="0" rtlCol="0" anchor="ctr"/>
          <a:lstStyle/>
          <a:p>
            <a:pPr algn="ctr" indent="0" marL="0">
              <a:buNone/>
            </a:pPr>
            <a:r>
              <a:rPr lang="en-US" sz="1500" b="1" dirty="0">
                <a:solidFill>
                  <a:srgbClr val="0B5CAB"/>
                </a:solidFill>
                <a:latin typeface="Avenir Next" pitchFamily="34" charset="0"/>
                <a:ea typeface="Avenir Next" pitchFamily="34" charset="-122"/>
                <a:cs typeface="Avenir Next" pitchFamily="34" charset="-120"/>
              </a:rPr>
              <a:t>1</a:t>
            </a:r>
            <a:endParaRPr lang="en-US" sz="1500" dirty="0"/>
          </a:p>
        </p:txBody>
      </p:sp>
      <p:sp>
        <p:nvSpPr>
          <p:cNvPr id="12" name="Text 9"/>
          <p:cNvSpPr/>
          <p:nvPr/>
        </p:nvSpPr>
        <p:spPr>
          <a:xfrm>
            <a:off x="914400" y="4160520"/>
            <a:ext cx="3017520" cy="45720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Keep a few stills</a:t>
            </a:r>
            <a:endParaRPr lang="en-US" sz="2200" dirty="0"/>
          </a:p>
        </p:txBody>
      </p:sp>
      <p:sp>
        <p:nvSpPr>
          <p:cNvPr id="13" name="Text 10"/>
          <p:cNvSpPr/>
          <p:nvPr/>
        </p:nvSpPr>
        <p:spPr>
          <a:xfrm>
            <a:off x="914400" y="4663440"/>
            <a:ext cx="3017520" cy="1188720"/>
          </a:xfrm>
          <a:prstGeom prst="rect">
            <a:avLst/>
          </a:prstGeom>
          <a:noFill/>
          <a:ln/>
        </p:spPr>
        <p:txBody>
          <a:bodyPr wrap="square" lIns="0" tIns="0" rIns="0" bIns="0" rtlCol="0" anchor="t"/>
          <a:lstStyle/>
          <a:p>
            <a:pPr indent="0" marL="0">
              <a:buNone/>
            </a:pPr>
            <a:r>
              <a:rPr lang="en-US" sz="1400" dirty="0">
                <a:solidFill>
                  <a:srgbClr val="4A5561"/>
                </a:solidFill>
                <a:latin typeface="Avenir Next" pitchFamily="34" charset="0"/>
                <a:ea typeface="Avenir Next" pitchFamily="34" charset="-122"/>
                <a:cs typeface="Avenir Next" pitchFamily="34" charset="-120"/>
              </a:rPr>
              <a:t>During the face and arm checks we keep two or three frames, only if the patient agrees.</a:t>
            </a:r>
            <a:endParaRPr lang="en-US" sz="1400" dirty="0"/>
          </a:p>
        </p:txBody>
      </p:sp>
      <p:sp>
        <p:nvSpPr>
          <p:cNvPr id="14" name="Shape 11"/>
          <p:cNvSpPr/>
          <p:nvPr/>
        </p:nvSpPr>
        <p:spPr>
          <a:xfrm>
            <a:off x="4389120" y="3337560"/>
            <a:ext cx="3566160" cy="2606040"/>
          </a:xfrm>
          <a:prstGeom prst="roundRect">
            <a:avLst>
              <a:gd name="adj" fmla="val 4211"/>
            </a:avLst>
          </a:prstGeom>
          <a:solidFill>
            <a:srgbClr val="FFFFFF"/>
          </a:solidFill>
          <a:ln w="12700">
            <a:solidFill>
              <a:srgbClr val="E3E3DC"/>
            </a:solidFill>
            <a:prstDash val="solid"/>
          </a:ln>
        </p:spPr>
      </p:sp>
      <p:sp>
        <p:nvSpPr>
          <p:cNvPr id="15" name="Shape 12"/>
          <p:cNvSpPr/>
          <p:nvPr/>
        </p:nvSpPr>
        <p:spPr>
          <a:xfrm>
            <a:off x="4663440" y="3611880"/>
            <a:ext cx="411480" cy="411480"/>
          </a:xfrm>
          <a:prstGeom prst="ellipse">
            <a:avLst/>
          </a:prstGeom>
          <a:solidFill>
            <a:srgbClr val="EAF1F9"/>
          </a:solidFill>
          <a:ln w="12700">
            <a:solidFill>
              <a:srgbClr val="EAF1F9"/>
            </a:solidFill>
            <a:prstDash val="solid"/>
          </a:ln>
        </p:spPr>
      </p:sp>
      <p:sp>
        <p:nvSpPr>
          <p:cNvPr id="16" name="Text 13"/>
          <p:cNvSpPr/>
          <p:nvPr/>
        </p:nvSpPr>
        <p:spPr>
          <a:xfrm>
            <a:off x="4663440" y="3611880"/>
            <a:ext cx="411480" cy="411480"/>
          </a:xfrm>
          <a:prstGeom prst="rect">
            <a:avLst/>
          </a:prstGeom>
          <a:noFill/>
          <a:ln/>
        </p:spPr>
        <p:txBody>
          <a:bodyPr wrap="square" lIns="0" tIns="0" rIns="0" bIns="0" rtlCol="0" anchor="ctr"/>
          <a:lstStyle/>
          <a:p>
            <a:pPr algn="ctr" indent="0" marL="0">
              <a:buNone/>
            </a:pPr>
            <a:r>
              <a:rPr lang="en-US" sz="1500" b="1" dirty="0">
                <a:solidFill>
                  <a:srgbClr val="0B5CAB"/>
                </a:solidFill>
                <a:latin typeface="Avenir Next" pitchFamily="34" charset="0"/>
                <a:ea typeface="Avenir Next" pitchFamily="34" charset="-122"/>
                <a:cs typeface="Avenir Next" pitchFamily="34" charset="-120"/>
              </a:rPr>
              <a:t>2</a:t>
            </a:r>
            <a:endParaRPr lang="en-US" sz="1500" dirty="0"/>
          </a:p>
        </p:txBody>
      </p:sp>
      <p:sp>
        <p:nvSpPr>
          <p:cNvPr id="17" name="Text 14"/>
          <p:cNvSpPr/>
          <p:nvPr/>
        </p:nvSpPr>
        <p:spPr>
          <a:xfrm>
            <a:off x="4663440" y="4160520"/>
            <a:ext cx="3017520" cy="45720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Ask for a plain answer</a:t>
            </a:r>
            <a:endParaRPr lang="en-US" sz="2200" dirty="0"/>
          </a:p>
        </p:txBody>
      </p:sp>
      <p:sp>
        <p:nvSpPr>
          <p:cNvPr id="18" name="Text 15"/>
          <p:cNvSpPr/>
          <p:nvPr/>
        </p:nvSpPr>
        <p:spPr>
          <a:xfrm>
            <a:off x="4663440" y="4663440"/>
            <a:ext cx="3017520" cy="1188720"/>
          </a:xfrm>
          <a:prstGeom prst="rect">
            <a:avLst/>
          </a:prstGeom>
          <a:noFill/>
          <a:ln/>
        </p:spPr>
        <p:txBody>
          <a:bodyPr wrap="square" lIns="0" tIns="0" rIns="0" bIns="0" rtlCol="0" anchor="t"/>
          <a:lstStyle/>
          <a:p>
            <a:pPr indent="0" marL="0">
              <a:buNone/>
            </a:pPr>
            <a:r>
              <a:rPr lang="en-US" sz="1400" dirty="0">
                <a:solidFill>
                  <a:srgbClr val="4A5561"/>
                </a:solidFill>
                <a:latin typeface="Avenir Next" pitchFamily="34" charset="0"/>
                <a:ea typeface="Avenir Next" pitchFamily="34" charset="-122"/>
                <a:cs typeface="Avenir Next" pitchFamily="34" charset="-120"/>
              </a:rPr>
              <a:t>Gemini is asked one strict question: is there a droop or a drifting arm? Yes, no or unclear.</a:t>
            </a:r>
            <a:endParaRPr lang="en-US" sz="1400" dirty="0"/>
          </a:p>
        </p:txBody>
      </p:sp>
      <p:sp>
        <p:nvSpPr>
          <p:cNvPr id="19" name="Shape 16"/>
          <p:cNvSpPr/>
          <p:nvPr/>
        </p:nvSpPr>
        <p:spPr>
          <a:xfrm>
            <a:off x="8138160" y="3337560"/>
            <a:ext cx="3566160" cy="2606040"/>
          </a:xfrm>
          <a:prstGeom prst="roundRect">
            <a:avLst>
              <a:gd name="adj" fmla="val 4211"/>
            </a:avLst>
          </a:prstGeom>
          <a:solidFill>
            <a:srgbClr val="FFFFFF"/>
          </a:solidFill>
          <a:ln w="12700">
            <a:solidFill>
              <a:srgbClr val="E3E3DC"/>
            </a:solidFill>
            <a:prstDash val="solid"/>
          </a:ln>
        </p:spPr>
      </p:sp>
      <p:sp>
        <p:nvSpPr>
          <p:cNvPr id="20" name="Shape 17"/>
          <p:cNvSpPr/>
          <p:nvPr/>
        </p:nvSpPr>
        <p:spPr>
          <a:xfrm>
            <a:off x="8412480" y="3611880"/>
            <a:ext cx="411480" cy="411480"/>
          </a:xfrm>
          <a:prstGeom prst="ellipse">
            <a:avLst/>
          </a:prstGeom>
          <a:solidFill>
            <a:srgbClr val="EAF1F9"/>
          </a:solidFill>
          <a:ln w="12700">
            <a:solidFill>
              <a:srgbClr val="EAF1F9"/>
            </a:solidFill>
            <a:prstDash val="solid"/>
          </a:ln>
        </p:spPr>
      </p:sp>
      <p:sp>
        <p:nvSpPr>
          <p:cNvPr id="21" name="Text 18"/>
          <p:cNvSpPr/>
          <p:nvPr/>
        </p:nvSpPr>
        <p:spPr>
          <a:xfrm>
            <a:off x="8412480" y="3611880"/>
            <a:ext cx="411480" cy="411480"/>
          </a:xfrm>
          <a:prstGeom prst="rect">
            <a:avLst/>
          </a:prstGeom>
          <a:noFill/>
          <a:ln/>
        </p:spPr>
        <p:txBody>
          <a:bodyPr wrap="square" lIns="0" tIns="0" rIns="0" bIns="0" rtlCol="0" anchor="ctr"/>
          <a:lstStyle/>
          <a:p>
            <a:pPr algn="ctr" indent="0" marL="0">
              <a:buNone/>
            </a:pPr>
            <a:r>
              <a:rPr lang="en-US" sz="1500" b="1" dirty="0">
                <a:solidFill>
                  <a:srgbClr val="0B5CAB"/>
                </a:solidFill>
                <a:latin typeface="Avenir Next" pitchFamily="34" charset="0"/>
                <a:ea typeface="Avenir Next" pitchFamily="34" charset="-122"/>
                <a:cs typeface="Avenir Next" pitchFamily="34" charset="-120"/>
              </a:rPr>
              <a:t>3</a:t>
            </a:r>
            <a:endParaRPr lang="en-US" sz="1500" dirty="0"/>
          </a:p>
        </p:txBody>
      </p:sp>
      <p:sp>
        <p:nvSpPr>
          <p:cNvPr id="22" name="Text 19"/>
          <p:cNvSpPr/>
          <p:nvPr/>
        </p:nvSpPr>
        <p:spPr>
          <a:xfrm>
            <a:off x="8412480" y="4160520"/>
            <a:ext cx="3017520" cy="45720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Show it next to ours</a:t>
            </a:r>
            <a:endParaRPr lang="en-US" sz="2200" dirty="0"/>
          </a:p>
        </p:txBody>
      </p:sp>
      <p:sp>
        <p:nvSpPr>
          <p:cNvPr id="23" name="Text 20"/>
          <p:cNvSpPr/>
          <p:nvPr/>
        </p:nvSpPr>
        <p:spPr>
          <a:xfrm>
            <a:off x="8412480" y="4663440"/>
            <a:ext cx="3017520" cy="1188720"/>
          </a:xfrm>
          <a:prstGeom prst="rect">
            <a:avLst/>
          </a:prstGeom>
          <a:noFill/>
          <a:ln/>
        </p:spPr>
        <p:txBody>
          <a:bodyPr wrap="square" lIns="0" tIns="0" rIns="0" bIns="0" rtlCol="0" anchor="t"/>
          <a:lstStyle/>
          <a:p>
            <a:pPr indent="0" marL="0">
              <a:buNone/>
            </a:pPr>
            <a:r>
              <a:rPr lang="en-US" sz="1400" dirty="0">
                <a:solidFill>
                  <a:srgbClr val="4A5561"/>
                </a:solidFill>
                <a:latin typeface="Avenir Next" pitchFamily="34" charset="0"/>
                <a:ea typeface="Avenir Next" pitchFamily="34" charset="-122"/>
                <a:cs typeface="Avenir Next" pitchFamily="34" charset="-120"/>
              </a:rPr>
              <a:t>The answer appears beside our score as agrees or disagrees. If it fails or is unsure, it is ignored.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11 / 12</a:t>
            </a:r>
            <a:endParaRPr lang="en-US" sz="1100" dirty="0"/>
          </a:p>
        </p:txBody>
      </p:sp>
      <p:sp>
        <p:nvSpPr>
          <p:cNvPr id="5" name="Text 2"/>
          <p:cNvSpPr/>
          <p:nvPr/>
        </p:nvSpPr>
        <p:spPr>
          <a:xfrm>
            <a:off x="640080" y="502920"/>
            <a:ext cx="10881360" cy="82296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Design system</a:t>
            </a:r>
            <a:endParaRPr lang="en-US" sz="4000" dirty="0"/>
          </a:p>
        </p:txBody>
      </p:sp>
      <p:sp>
        <p:nvSpPr>
          <p:cNvPr id="6" name="Text 3"/>
          <p:cNvSpPr/>
          <p:nvPr/>
        </p:nvSpPr>
        <p:spPr>
          <a:xfrm>
            <a:off x="640080" y="1554480"/>
            <a:ext cx="5303520" cy="82296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Tiempos for titles</a:t>
            </a:r>
            <a:endParaRPr lang="en-US" sz="4000" dirty="0"/>
          </a:p>
        </p:txBody>
      </p:sp>
      <p:sp>
        <p:nvSpPr>
          <p:cNvPr id="7" name="Text 4"/>
          <p:cNvSpPr/>
          <p:nvPr/>
        </p:nvSpPr>
        <p:spPr>
          <a:xfrm>
            <a:off x="640080" y="2423160"/>
            <a:ext cx="5120640" cy="822960"/>
          </a:xfrm>
          <a:prstGeom prst="rect">
            <a:avLst/>
          </a:prstGeom>
          <a:noFill/>
          <a:ln/>
        </p:spPr>
        <p:txBody>
          <a:bodyPr wrap="square" lIns="0" tIns="0" rIns="0" bIns="0" rtlCol="0" anchor="t"/>
          <a:lstStyle/>
          <a:p>
            <a:pPr indent="0" marL="0">
              <a:buNone/>
            </a:pPr>
            <a:r>
              <a:rPr lang="en-US" sz="2000" dirty="0">
                <a:solidFill>
                  <a:srgbClr val="4A5561"/>
                </a:solidFill>
                <a:latin typeface="Avenir Next" pitchFamily="34" charset="0"/>
                <a:ea typeface="Avenir Next" pitchFamily="34" charset="-122"/>
                <a:cs typeface="Avenir Next" pitchFamily="34" charset="-120"/>
              </a:rPr>
              <a:t>Avenir for everything else. Easy to read for anyone, on any screen.</a:t>
            </a:r>
            <a:endParaRPr lang="en-US" sz="2000" dirty="0"/>
          </a:p>
        </p:txBody>
      </p:sp>
      <p:sp>
        <p:nvSpPr>
          <p:cNvPr id="8" name="Text 5"/>
          <p:cNvSpPr/>
          <p:nvPr/>
        </p:nvSpPr>
        <p:spPr>
          <a:xfrm>
            <a:off x="640080" y="3749040"/>
            <a:ext cx="5120640" cy="22860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4A5561"/>
                </a:solidFill>
                <a:latin typeface="Avenir Next" pitchFamily="34" charset="0"/>
                <a:ea typeface="Avenir Next" pitchFamily="34" charset="-122"/>
                <a:cs typeface="Avenir Next" pitchFamily="34" charset="-120"/>
              </a:rPr>
              <a:t>One accent color. Red is kept for emergencies.</a:t>
            </a:r>
            <a:endParaRPr lang="en-US" sz="1600" dirty="0"/>
          </a:p>
          <a:p>
            <a:pPr marL="203200" indent="-203200">
              <a:spcAft>
                <a:spcPts val="800"/>
              </a:spcAft>
              <a:buSzPct val="100000"/>
              <a:buChar char="•"/>
            </a:pPr>
            <a:r>
              <a:rPr lang="en-US" sz="1600" dirty="0">
                <a:solidFill>
                  <a:srgbClr val="4A5561"/>
                </a:solidFill>
                <a:latin typeface="Avenir Next" pitchFamily="34" charset="0"/>
                <a:ea typeface="Avenir Next" pitchFamily="34" charset="-122"/>
                <a:cs typeface="Avenir Next" pitchFamily="34" charset="-120"/>
              </a:rPr>
              <a:t>Flat fills, no gradients.</a:t>
            </a:r>
            <a:endParaRPr lang="en-US" sz="1600" dirty="0"/>
          </a:p>
          <a:p>
            <a:pPr marL="203200" indent="-203200">
              <a:spcAft>
                <a:spcPts val="800"/>
              </a:spcAft>
              <a:buSzPct val="100000"/>
              <a:buChar char="•"/>
            </a:pPr>
            <a:r>
              <a:rPr lang="en-US" sz="1600" dirty="0">
                <a:solidFill>
                  <a:srgbClr val="4A5561"/>
                </a:solidFill>
                <a:latin typeface="Avenir Next" pitchFamily="34" charset="0"/>
                <a:ea typeface="Avenir Next" pitchFamily="34" charset="-122"/>
                <a:cs typeface="Avenir Next" pitchFamily="34" charset="-120"/>
              </a:rPr>
              <a:t>Text passes AA contrast; nothing under 13 px.</a:t>
            </a:r>
            <a:endParaRPr lang="en-US" sz="1600" dirty="0"/>
          </a:p>
          <a:p>
            <a:pPr marL="203200" indent="-203200">
              <a:spcAft>
                <a:spcPts val="800"/>
              </a:spcAft>
              <a:buSzPct val="100000"/>
              <a:buChar char="•"/>
            </a:pPr>
            <a:r>
              <a:rPr lang="en-US" sz="1600" dirty="0">
                <a:solidFill>
                  <a:srgbClr val="4A5561"/>
                </a:solidFill>
                <a:latin typeface="Avenir Next" pitchFamily="34" charset="0"/>
                <a:ea typeface="Avenir Next" pitchFamily="34" charset="-122"/>
                <a:cs typeface="Avenir Next" pitchFamily="34" charset="-120"/>
              </a:rPr>
              <a:t>Big targets and plain words for someone in a hurry.</a:t>
            </a:r>
            <a:endParaRPr lang="en-US" sz="1600" dirty="0"/>
          </a:p>
        </p:txBody>
      </p:sp>
      <p:sp>
        <p:nvSpPr>
          <p:cNvPr id="9" name="Shape 6"/>
          <p:cNvSpPr/>
          <p:nvPr/>
        </p:nvSpPr>
        <p:spPr>
          <a:xfrm>
            <a:off x="6400800" y="1554480"/>
            <a:ext cx="777240" cy="777240"/>
          </a:xfrm>
          <a:prstGeom prst="roundRect">
            <a:avLst>
              <a:gd name="adj" fmla="val 11765"/>
            </a:avLst>
          </a:prstGeom>
          <a:solidFill>
            <a:srgbClr val="FBFBF9"/>
          </a:solidFill>
          <a:ln w="12700">
            <a:solidFill>
              <a:srgbClr val="C9C9C0"/>
            </a:solidFill>
            <a:prstDash val="solid"/>
          </a:ln>
        </p:spPr>
      </p:sp>
      <p:sp>
        <p:nvSpPr>
          <p:cNvPr id="10" name="Text 7"/>
          <p:cNvSpPr/>
          <p:nvPr/>
        </p:nvSpPr>
        <p:spPr>
          <a:xfrm>
            <a:off x="7315200" y="162763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Page</a:t>
            </a:r>
            <a:endParaRPr lang="en-US" sz="1500" dirty="0"/>
          </a:p>
        </p:txBody>
      </p:sp>
      <p:sp>
        <p:nvSpPr>
          <p:cNvPr id="11" name="Text 8"/>
          <p:cNvSpPr/>
          <p:nvPr/>
        </p:nvSpPr>
        <p:spPr>
          <a:xfrm>
            <a:off x="7315200" y="196596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#FBFBF9</a:t>
            </a:r>
            <a:endParaRPr lang="en-US" sz="1300" dirty="0"/>
          </a:p>
        </p:txBody>
      </p:sp>
      <p:sp>
        <p:nvSpPr>
          <p:cNvPr id="12" name="Shape 9"/>
          <p:cNvSpPr/>
          <p:nvPr/>
        </p:nvSpPr>
        <p:spPr>
          <a:xfrm>
            <a:off x="9098280" y="1554480"/>
            <a:ext cx="777240" cy="777240"/>
          </a:xfrm>
          <a:prstGeom prst="roundRect">
            <a:avLst>
              <a:gd name="adj" fmla="val 11765"/>
            </a:avLst>
          </a:prstGeom>
          <a:solidFill>
            <a:srgbClr val="12161B"/>
          </a:solidFill>
          <a:ln w="12700">
            <a:solidFill>
              <a:srgbClr val="12161B"/>
            </a:solidFill>
            <a:prstDash val="solid"/>
          </a:ln>
        </p:spPr>
      </p:sp>
      <p:sp>
        <p:nvSpPr>
          <p:cNvPr id="13" name="Text 10"/>
          <p:cNvSpPr/>
          <p:nvPr/>
        </p:nvSpPr>
        <p:spPr>
          <a:xfrm>
            <a:off x="10012680" y="162763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Ink</a:t>
            </a:r>
            <a:endParaRPr lang="en-US" sz="1500" dirty="0"/>
          </a:p>
        </p:txBody>
      </p:sp>
      <p:sp>
        <p:nvSpPr>
          <p:cNvPr id="14" name="Text 11"/>
          <p:cNvSpPr/>
          <p:nvPr/>
        </p:nvSpPr>
        <p:spPr>
          <a:xfrm>
            <a:off x="10012680" y="196596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#12161B</a:t>
            </a:r>
            <a:endParaRPr lang="en-US" sz="1300" dirty="0"/>
          </a:p>
        </p:txBody>
      </p:sp>
      <p:sp>
        <p:nvSpPr>
          <p:cNvPr id="15" name="Shape 12"/>
          <p:cNvSpPr/>
          <p:nvPr/>
        </p:nvSpPr>
        <p:spPr>
          <a:xfrm>
            <a:off x="6400800" y="2651760"/>
            <a:ext cx="777240" cy="777240"/>
          </a:xfrm>
          <a:prstGeom prst="roundRect">
            <a:avLst>
              <a:gd name="adj" fmla="val 11765"/>
            </a:avLst>
          </a:prstGeom>
          <a:solidFill>
            <a:srgbClr val="0B5CAB"/>
          </a:solidFill>
          <a:ln w="12700">
            <a:solidFill>
              <a:srgbClr val="0B5CAB"/>
            </a:solidFill>
            <a:prstDash val="solid"/>
          </a:ln>
        </p:spPr>
      </p:sp>
      <p:sp>
        <p:nvSpPr>
          <p:cNvPr id="16" name="Text 13"/>
          <p:cNvSpPr/>
          <p:nvPr/>
        </p:nvSpPr>
        <p:spPr>
          <a:xfrm>
            <a:off x="7315200" y="272491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Accent blue</a:t>
            </a:r>
            <a:endParaRPr lang="en-US" sz="1500" dirty="0"/>
          </a:p>
        </p:txBody>
      </p:sp>
      <p:sp>
        <p:nvSpPr>
          <p:cNvPr id="17" name="Text 14"/>
          <p:cNvSpPr/>
          <p:nvPr/>
        </p:nvSpPr>
        <p:spPr>
          <a:xfrm>
            <a:off x="7315200" y="306324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#0B5CAB</a:t>
            </a:r>
            <a:endParaRPr lang="en-US" sz="1300" dirty="0"/>
          </a:p>
        </p:txBody>
      </p:sp>
      <p:sp>
        <p:nvSpPr>
          <p:cNvPr id="18" name="Shape 15"/>
          <p:cNvSpPr/>
          <p:nvPr/>
        </p:nvSpPr>
        <p:spPr>
          <a:xfrm>
            <a:off x="9098280" y="2651760"/>
            <a:ext cx="777240" cy="777240"/>
          </a:xfrm>
          <a:prstGeom prst="roundRect">
            <a:avLst>
              <a:gd name="adj" fmla="val 11765"/>
            </a:avLst>
          </a:prstGeom>
          <a:solidFill>
            <a:srgbClr val="B3261E"/>
          </a:solidFill>
          <a:ln w="12700">
            <a:solidFill>
              <a:srgbClr val="B3261E"/>
            </a:solidFill>
            <a:prstDash val="solid"/>
          </a:ln>
        </p:spPr>
      </p:sp>
      <p:sp>
        <p:nvSpPr>
          <p:cNvPr id="19" name="Text 16"/>
          <p:cNvSpPr/>
          <p:nvPr/>
        </p:nvSpPr>
        <p:spPr>
          <a:xfrm>
            <a:off x="10012680" y="272491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Emergency red</a:t>
            </a:r>
            <a:endParaRPr lang="en-US" sz="1500" dirty="0"/>
          </a:p>
        </p:txBody>
      </p:sp>
      <p:sp>
        <p:nvSpPr>
          <p:cNvPr id="20" name="Text 17"/>
          <p:cNvSpPr/>
          <p:nvPr/>
        </p:nvSpPr>
        <p:spPr>
          <a:xfrm>
            <a:off x="10012680" y="306324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#B3261E</a:t>
            </a:r>
            <a:endParaRPr lang="en-US" sz="1300" dirty="0"/>
          </a:p>
        </p:txBody>
      </p:sp>
      <p:sp>
        <p:nvSpPr>
          <p:cNvPr id="21" name="Shape 18"/>
          <p:cNvSpPr/>
          <p:nvPr/>
        </p:nvSpPr>
        <p:spPr>
          <a:xfrm>
            <a:off x="6400800" y="3749040"/>
            <a:ext cx="777240" cy="777240"/>
          </a:xfrm>
          <a:prstGeom prst="roundRect">
            <a:avLst>
              <a:gd name="adj" fmla="val 11765"/>
            </a:avLst>
          </a:prstGeom>
          <a:solidFill>
            <a:srgbClr val="1B6B48"/>
          </a:solidFill>
          <a:ln w="12700">
            <a:solidFill>
              <a:srgbClr val="1B6B48"/>
            </a:solidFill>
            <a:prstDash val="solid"/>
          </a:ln>
        </p:spPr>
      </p:sp>
      <p:sp>
        <p:nvSpPr>
          <p:cNvPr id="22" name="Text 19"/>
          <p:cNvSpPr/>
          <p:nvPr/>
        </p:nvSpPr>
        <p:spPr>
          <a:xfrm>
            <a:off x="7315200" y="382219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OK green</a:t>
            </a:r>
            <a:endParaRPr lang="en-US" sz="1500" dirty="0"/>
          </a:p>
        </p:txBody>
      </p:sp>
      <p:sp>
        <p:nvSpPr>
          <p:cNvPr id="23" name="Text 20"/>
          <p:cNvSpPr/>
          <p:nvPr/>
        </p:nvSpPr>
        <p:spPr>
          <a:xfrm>
            <a:off x="7315200" y="416052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#1B6B48</a:t>
            </a:r>
            <a:endParaRPr lang="en-US" sz="1300" dirty="0"/>
          </a:p>
        </p:txBody>
      </p:sp>
      <p:sp>
        <p:nvSpPr>
          <p:cNvPr id="24" name="Shape 21"/>
          <p:cNvSpPr/>
          <p:nvPr/>
        </p:nvSpPr>
        <p:spPr>
          <a:xfrm>
            <a:off x="9098280" y="3749040"/>
            <a:ext cx="777240" cy="777240"/>
          </a:xfrm>
          <a:prstGeom prst="roundRect">
            <a:avLst>
              <a:gd name="adj" fmla="val 11765"/>
            </a:avLst>
          </a:prstGeom>
          <a:solidFill>
            <a:srgbClr val="8A5A00"/>
          </a:solidFill>
          <a:ln w="12700">
            <a:solidFill>
              <a:srgbClr val="8A5A00"/>
            </a:solidFill>
            <a:prstDash val="solid"/>
          </a:ln>
        </p:spPr>
      </p:sp>
      <p:sp>
        <p:nvSpPr>
          <p:cNvPr id="25" name="Text 22"/>
          <p:cNvSpPr/>
          <p:nvPr/>
        </p:nvSpPr>
        <p:spPr>
          <a:xfrm>
            <a:off x="10012680" y="382219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Attention amber</a:t>
            </a:r>
            <a:endParaRPr lang="en-US" sz="1500" dirty="0"/>
          </a:p>
        </p:txBody>
      </p:sp>
      <p:sp>
        <p:nvSpPr>
          <p:cNvPr id="26" name="Text 23"/>
          <p:cNvSpPr/>
          <p:nvPr/>
        </p:nvSpPr>
        <p:spPr>
          <a:xfrm>
            <a:off x="10012680" y="416052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#8A5A00</a:t>
            </a:r>
            <a:endParaRPr lang="en-US" sz="1300" dirty="0"/>
          </a:p>
        </p:txBody>
      </p:sp>
      <p:sp>
        <p:nvSpPr>
          <p:cNvPr id="27" name="Shape 24"/>
          <p:cNvSpPr/>
          <p:nvPr/>
        </p:nvSpPr>
        <p:spPr>
          <a:xfrm>
            <a:off x="6400800" y="4846320"/>
            <a:ext cx="777240" cy="777240"/>
          </a:xfrm>
          <a:prstGeom prst="roundRect">
            <a:avLst>
              <a:gd name="adj" fmla="val 11765"/>
            </a:avLst>
          </a:prstGeom>
          <a:solidFill>
            <a:srgbClr val="0E1216"/>
          </a:solidFill>
          <a:ln w="12700">
            <a:solidFill>
              <a:srgbClr val="0E1216"/>
            </a:solidFill>
            <a:prstDash val="solid"/>
          </a:ln>
        </p:spPr>
      </p:sp>
      <p:sp>
        <p:nvSpPr>
          <p:cNvPr id="28" name="Text 25"/>
          <p:cNvSpPr/>
          <p:nvPr/>
        </p:nvSpPr>
        <p:spPr>
          <a:xfrm>
            <a:off x="7315200" y="491947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Camera stage</a:t>
            </a:r>
            <a:endParaRPr lang="en-US" sz="1500" dirty="0"/>
          </a:p>
        </p:txBody>
      </p:sp>
      <p:sp>
        <p:nvSpPr>
          <p:cNvPr id="29" name="Text 26"/>
          <p:cNvSpPr/>
          <p:nvPr/>
        </p:nvSpPr>
        <p:spPr>
          <a:xfrm>
            <a:off x="7315200" y="525780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#0E1216</a:t>
            </a:r>
            <a:endParaRPr lang="en-US" sz="1300" dirty="0"/>
          </a:p>
        </p:txBody>
      </p:sp>
      <p:sp>
        <p:nvSpPr>
          <p:cNvPr id="30" name="Shape 27"/>
          <p:cNvSpPr/>
          <p:nvPr/>
        </p:nvSpPr>
        <p:spPr>
          <a:xfrm>
            <a:off x="9098280" y="4846320"/>
            <a:ext cx="777240" cy="777240"/>
          </a:xfrm>
          <a:prstGeom prst="roundRect">
            <a:avLst>
              <a:gd name="adj" fmla="val 11765"/>
            </a:avLst>
          </a:prstGeom>
          <a:solidFill>
            <a:srgbClr val="EAF1F9"/>
          </a:solidFill>
          <a:ln w="12700">
            <a:solidFill>
              <a:srgbClr val="C9C9C0"/>
            </a:solidFill>
            <a:prstDash val="solid"/>
          </a:ln>
        </p:spPr>
      </p:sp>
      <p:sp>
        <p:nvSpPr>
          <p:cNvPr id="31" name="Text 28"/>
          <p:cNvSpPr/>
          <p:nvPr/>
        </p:nvSpPr>
        <p:spPr>
          <a:xfrm>
            <a:off x="10012680" y="4919472"/>
            <a:ext cx="1691640" cy="365760"/>
          </a:xfrm>
          <a:prstGeom prst="rect">
            <a:avLst/>
          </a:prstGeom>
          <a:noFill/>
          <a:ln/>
        </p:spPr>
        <p:txBody>
          <a:bodyPr wrap="square" lIns="0" tIns="0" rIns="0" bIns="0" rtlCol="0" anchor="ctr"/>
          <a:lstStyle/>
          <a:p>
            <a:pPr indent="0" marL="0">
              <a:buNone/>
            </a:pPr>
            <a:r>
              <a:rPr lang="en-US" sz="1500" b="1" dirty="0">
                <a:solidFill>
                  <a:srgbClr val="12161B"/>
                </a:solidFill>
                <a:latin typeface="Avenir Next" pitchFamily="34" charset="0"/>
                <a:ea typeface="Avenir Next" pitchFamily="34" charset="-122"/>
                <a:cs typeface="Avenir Next" pitchFamily="34" charset="-120"/>
              </a:rPr>
              <a:t>Soft blue</a:t>
            </a:r>
            <a:endParaRPr lang="en-US" sz="1500" dirty="0"/>
          </a:p>
        </p:txBody>
      </p:sp>
      <p:sp>
        <p:nvSpPr>
          <p:cNvPr id="32" name="Text 29"/>
          <p:cNvSpPr/>
          <p:nvPr/>
        </p:nvSpPr>
        <p:spPr>
          <a:xfrm>
            <a:off x="10012680" y="5257800"/>
            <a:ext cx="1691640" cy="320040"/>
          </a:xfrm>
          <a:prstGeom prst="rect">
            <a:avLst/>
          </a:prstGeom>
          <a:noFill/>
          <a:ln/>
        </p:spPr>
        <p:txBody>
          <a:bodyPr wrap="square" lIns="0" tIns="0" rIns="0" bIns="0" rtlCol="0" anchor="ctr"/>
          <a:lstStyle/>
          <a:p>
            <a:pPr indent="0" marL="0">
              <a:buNone/>
            </a:pPr>
            <a:r>
              <a:rPr lang="en-US" sz="1300" dirty="0">
                <a:solidFill>
                  <a:srgbClr val="6B7683"/>
                </a:solidFill>
                <a:latin typeface="Avenir Next" pitchFamily="34" charset="0"/>
                <a:ea typeface="Avenir Next" pitchFamily="34" charset="-122"/>
                <a:cs typeface="Avenir Next" pitchFamily="34" charset="-120"/>
              </a:rPr>
              <a:t>#EAF1F9</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rgbClr val="6B7683"/>
                </a:solidFill>
                <a:latin typeface="Avenir Next" pitchFamily="34" charset="0"/>
                <a:ea typeface="Avenir Next" pitchFamily="34" charset="-122"/>
                <a:cs typeface="Avenir Next" pitchFamily="34" charset="-120"/>
              </a:rPr>
              <a:t>StrokeShield  |  HopHacks 2026</a:t>
            </a:r>
            <a:endParaRPr lang="en-US" sz="1100" dirty="0"/>
          </a:p>
        </p:txBody>
      </p:sp>
      <p:sp>
        <p:nvSpPr>
          <p:cNvPr id="3" name="Text 1"/>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100" dirty="0">
                <a:solidFill>
                  <a:srgbClr val="6B7683"/>
                </a:solidFill>
                <a:latin typeface="Avenir Next" pitchFamily="34" charset="0"/>
                <a:ea typeface="Avenir Next" pitchFamily="34" charset="-122"/>
                <a:cs typeface="Avenir Next" pitchFamily="34" charset="-120"/>
              </a:rPr>
              <a:t>12 / 12</a:t>
            </a:r>
            <a:endParaRPr lang="en-US" sz="1100" dirty="0"/>
          </a:p>
        </p:txBody>
      </p:sp>
      <p:sp>
        <p:nvSpPr>
          <p:cNvPr id="5" name="Text 2"/>
          <p:cNvSpPr/>
          <p:nvPr/>
        </p:nvSpPr>
        <p:spPr>
          <a:xfrm>
            <a:off x="640080" y="502920"/>
            <a:ext cx="10881360" cy="822960"/>
          </a:xfrm>
          <a:prstGeom prst="rect">
            <a:avLst/>
          </a:prstGeom>
          <a:noFill/>
          <a:ln/>
        </p:spPr>
        <p:txBody>
          <a:bodyPr wrap="square" lIns="0" tIns="0" rIns="0" bIns="0" rtlCol="0" anchor="t"/>
          <a:lstStyle/>
          <a:p>
            <a:pPr indent="0" marL="0">
              <a:buNone/>
            </a:pPr>
            <a:r>
              <a:rPr lang="en-US" sz="4000" dirty="0">
                <a:solidFill>
                  <a:srgbClr val="12161B"/>
                </a:solidFill>
                <a:latin typeface="Newsreader" pitchFamily="34" charset="0"/>
                <a:ea typeface="Newsreader" pitchFamily="34" charset="-122"/>
                <a:cs typeface="Newsreader" pitchFamily="34" charset="-120"/>
              </a:rPr>
              <a:t>What it is not, and what comes next</a:t>
            </a:r>
            <a:endParaRPr lang="en-US" sz="4000" dirty="0"/>
          </a:p>
        </p:txBody>
      </p:sp>
      <p:sp>
        <p:nvSpPr>
          <p:cNvPr id="6" name="Text 3"/>
          <p:cNvSpPr/>
          <p:nvPr/>
        </p:nvSpPr>
        <p:spPr>
          <a:xfrm>
            <a:off x="640080" y="1691640"/>
            <a:ext cx="5120640" cy="457200"/>
          </a:xfrm>
          <a:prstGeom prst="rect">
            <a:avLst/>
          </a:prstGeom>
          <a:noFill/>
          <a:ln/>
        </p:spPr>
        <p:txBody>
          <a:bodyPr wrap="square" lIns="0" tIns="0" rIns="0" bIns="0" rtlCol="0" anchor="ctr"/>
          <a:lstStyle/>
          <a:p>
            <a:pPr indent="0" marL="0">
              <a:buNone/>
            </a:pPr>
            <a:r>
              <a:rPr lang="en-US" sz="1400" b="1" spc="200" kern="0" dirty="0">
                <a:solidFill>
                  <a:srgbClr val="B3261E"/>
                </a:solidFill>
                <a:latin typeface="Avenir Next" pitchFamily="34" charset="0"/>
                <a:ea typeface="Avenir Next" pitchFamily="34" charset="-122"/>
                <a:cs typeface="Avenir Next" pitchFamily="34" charset="-120"/>
              </a:rPr>
              <a:t>LIMITS</a:t>
            </a:r>
            <a:endParaRPr lang="en-US" sz="1400" dirty="0"/>
          </a:p>
        </p:txBody>
      </p:sp>
      <p:sp>
        <p:nvSpPr>
          <p:cNvPr id="7" name="Shape 4"/>
          <p:cNvSpPr/>
          <p:nvPr/>
        </p:nvSpPr>
        <p:spPr>
          <a:xfrm>
            <a:off x="640080" y="2194560"/>
            <a:ext cx="5120640" cy="0"/>
          </a:xfrm>
          <a:prstGeom prst="line">
            <a:avLst/>
          </a:prstGeom>
          <a:noFill/>
          <a:ln w="12700">
            <a:solidFill>
              <a:srgbClr val="C9C9C0"/>
            </a:solidFill>
            <a:prstDash val="solid"/>
          </a:ln>
        </p:spPr>
      </p:sp>
      <p:sp>
        <p:nvSpPr>
          <p:cNvPr id="8" name="Text 5"/>
          <p:cNvSpPr/>
          <p:nvPr/>
        </p:nvSpPr>
        <p:spPr>
          <a:xfrm>
            <a:off x="640080" y="2423160"/>
            <a:ext cx="5120640" cy="100584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Not a medical device.</a:t>
            </a:r>
            <a:endParaRPr lang="en-US" sz="2200" dirty="0"/>
          </a:p>
        </p:txBody>
      </p:sp>
      <p:sp>
        <p:nvSpPr>
          <p:cNvPr id="9" name="Text 6"/>
          <p:cNvSpPr/>
          <p:nvPr/>
        </p:nvSpPr>
        <p:spPr>
          <a:xfrm>
            <a:off x="640080" y="3611880"/>
            <a:ext cx="5120640" cy="100584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The scoring is still being tuned on real people, and is not clinically validated.</a:t>
            </a:r>
            <a:endParaRPr lang="en-US" sz="2200" dirty="0"/>
          </a:p>
        </p:txBody>
      </p:sp>
      <p:sp>
        <p:nvSpPr>
          <p:cNvPr id="10" name="Text 7"/>
          <p:cNvSpPr/>
          <p:nvPr/>
        </p:nvSpPr>
        <p:spPr>
          <a:xfrm>
            <a:off x="640080" y="4800600"/>
            <a:ext cx="5120640" cy="100584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It can only ever text one demo number.</a:t>
            </a:r>
            <a:endParaRPr lang="en-US" sz="2200" dirty="0"/>
          </a:p>
        </p:txBody>
      </p:sp>
      <p:sp>
        <p:nvSpPr>
          <p:cNvPr id="11" name="Text 8"/>
          <p:cNvSpPr/>
          <p:nvPr/>
        </p:nvSpPr>
        <p:spPr>
          <a:xfrm>
            <a:off x="6400800" y="1691640"/>
            <a:ext cx="5120640" cy="457200"/>
          </a:xfrm>
          <a:prstGeom prst="rect">
            <a:avLst/>
          </a:prstGeom>
          <a:noFill/>
          <a:ln/>
        </p:spPr>
        <p:txBody>
          <a:bodyPr wrap="square" lIns="0" tIns="0" rIns="0" bIns="0" rtlCol="0" anchor="ctr"/>
          <a:lstStyle/>
          <a:p>
            <a:pPr indent="0" marL="0">
              <a:buNone/>
            </a:pPr>
            <a:r>
              <a:rPr lang="en-US" sz="1400" b="1" spc="200" kern="0" dirty="0">
                <a:solidFill>
                  <a:srgbClr val="0B5CAB"/>
                </a:solidFill>
                <a:latin typeface="Avenir Next" pitchFamily="34" charset="0"/>
                <a:ea typeface="Avenir Next" pitchFamily="34" charset="-122"/>
                <a:cs typeface="Avenir Next" pitchFamily="34" charset="-120"/>
              </a:rPr>
              <a:t>NEXT STEPS</a:t>
            </a:r>
            <a:endParaRPr lang="en-US" sz="1400" dirty="0"/>
          </a:p>
        </p:txBody>
      </p:sp>
      <p:sp>
        <p:nvSpPr>
          <p:cNvPr id="12" name="Shape 9"/>
          <p:cNvSpPr/>
          <p:nvPr/>
        </p:nvSpPr>
        <p:spPr>
          <a:xfrm>
            <a:off x="6400800" y="2194560"/>
            <a:ext cx="5120640" cy="0"/>
          </a:xfrm>
          <a:prstGeom prst="line">
            <a:avLst/>
          </a:prstGeom>
          <a:noFill/>
          <a:ln w="12700">
            <a:solidFill>
              <a:srgbClr val="C9C9C0"/>
            </a:solidFill>
            <a:prstDash val="solid"/>
          </a:ln>
        </p:spPr>
      </p:sp>
      <p:sp>
        <p:nvSpPr>
          <p:cNvPr id="13" name="Text 10"/>
          <p:cNvSpPr/>
          <p:nvPr/>
        </p:nvSpPr>
        <p:spPr>
          <a:xfrm>
            <a:off x="6400800" y="2423160"/>
            <a:ext cx="5120640" cy="100584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Test and tune on real cameras and microphones.</a:t>
            </a:r>
            <a:endParaRPr lang="en-US" sz="2200" dirty="0"/>
          </a:p>
        </p:txBody>
      </p:sp>
      <p:sp>
        <p:nvSpPr>
          <p:cNvPr id="14" name="Text 11"/>
          <p:cNvSpPr/>
          <p:nvPr/>
        </p:nvSpPr>
        <p:spPr>
          <a:xfrm>
            <a:off x="6400800" y="3611880"/>
            <a:ext cx="5120640" cy="100584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Find the nearest stroke center and hand the ambulance crew a one-page summary.</a:t>
            </a:r>
            <a:endParaRPr lang="en-US" sz="2200" dirty="0"/>
          </a:p>
        </p:txBody>
      </p:sp>
      <p:sp>
        <p:nvSpPr>
          <p:cNvPr id="15" name="Text 12"/>
          <p:cNvSpPr/>
          <p:nvPr/>
        </p:nvSpPr>
        <p:spPr>
          <a:xfrm>
            <a:off x="6400800" y="4800600"/>
            <a:ext cx="5120640" cy="1005840"/>
          </a:xfrm>
          <a:prstGeom prst="rect">
            <a:avLst/>
          </a:prstGeom>
          <a:noFill/>
          <a:ln/>
        </p:spPr>
        <p:txBody>
          <a:bodyPr wrap="square" lIns="0" tIns="0" rIns="0" bIns="0" rtlCol="0" anchor="t"/>
          <a:lstStyle/>
          <a:p>
            <a:pPr indent="0" marL="0">
              <a:buNone/>
            </a:pPr>
            <a:r>
              <a:rPr lang="en-US" sz="2200" dirty="0">
                <a:solidFill>
                  <a:srgbClr val="12161B"/>
                </a:solidFill>
                <a:latin typeface="Newsreader" pitchFamily="34" charset="0"/>
                <a:ea typeface="Newsreader" pitchFamily="34" charset="-122"/>
                <a:cs typeface="Newsreader" pitchFamily="34" charset="-120"/>
              </a:rPr>
              <a:t>A Gemini second opinion on still frames.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Johns Hopkins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StrokeShield</dc:title>
  <dc:subject>PptxGenJS Presentation</dc:subject>
  <dc:creator>Sathvik S., Fatih C., Yeongsu K., Leo Y.</dc:creator>
  <cp:lastModifiedBy>Sathvik S., Fatih C., Yeongsu K., Leo Y.</cp:lastModifiedBy>
  <cp:revision>1</cp:revision>
  <dcterms:created xsi:type="dcterms:W3CDTF">2026-09-19T18:02:04Z</dcterms:created>
  <dcterms:modified xsi:type="dcterms:W3CDTF">2026-09-19T18:02:04Z</dcterms:modified>
</cp:coreProperties>
</file>